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B1587F1-7081-4043-8303-0F302C09C03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945BC7-52F4-4746-AFA1-8A4ECF25AB6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31C66CB-B6CE-4FB5-89D8-7EEA92651BC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CE69ED1-5DCF-46C2-AE98-6910987E687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90D366-5C0C-45DC-A0BA-B0479E88BE1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02A9DA-D7BA-4DBD-AED6-513777CDC48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1760" cy="5850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5120" cy="5850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EFF4AD-8778-4629-B578-41CDC48CAD8F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1360" cy="5029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69D9D6E-8CD9-4883-A57D-CF56DC91CEAB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1880" cy="136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1880" cy="14986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F49DB90-AB06-4691-A95E-D096303F391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3440" cy="4524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3440" cy="45244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BBC3AC-B9A7-4ED7-950F-A8BF147411B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5600" cy="638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5600" cy="3949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7760" cy="638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7760" cy="3949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C7A3B66-3482-4FBA-9966-2829C06DD1C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A14EDC9-91F1-42AB-8B97-00D1ECF3FD51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32496BD-DFBF-4F71-B3E2-C272A9FC0F2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09680" cy="1160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080" cy="5851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09680" cy="4689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3E5A4DD-E1F1-4025-841A-3C866C37A3CD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3760" cy="565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37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3760" cy="803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B770598-E1F1-47D2-AB36-11D04F1162E9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880" cy="1468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8A9F1B5-4A60-492F-AD1E-051C3663622C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1360" cy="5029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21C985C-5840-4396-8EDE-C2626259B7B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ithub.com/Sahakarya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2560" cy="6856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7160" cy="5153400"/>
          </a:xfrm>
          <a:custGeom>
            <a:avLst/>
            <a:gdLst>
              <a:gd name="textAreaLeft" fmla="*/ 0 w 4637160"/>
              <a:gd name="textAreaRight" fmla="*/ 4638600 w 4637160"/>
              <a:gd name="textAreaTop" fmla="*/ 0 h 5153400"/>
              <a:gd name="textAreaBottom" fmla="*/ 5154840 h 515340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4"/>
          <p:cNvPicPr/>
          <p:nvPr/>
        </p:nvPicPr>
        <p:blipFill>
          <a:blip r:embed="rId1"/>
          <a:srcRect l="0" t="0" r="59916" b="0"/>
          <a:stretch/>
        </p:blipFill>
        <p:spPr>
          <a:xfrm>
            <a:off x="6854760" y="1715760"/>
            <a:ext cx="3202200" cy="342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104480" y="-526680"/>
            <a:ext cx="9182520" cy="20750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SMART INDIA HACKATHON 2026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31200" y="2514600"/>
            <a:ext cx="5923080" cy="32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50" b="0" u="none" strike="noStrike">
                <a:solidFill>
                  <a:srgbClr val="1F4E79"/>
                </a:solidFill>
                <a:effectLst/>
                <a:uFillTx/>
                <a:latin typeface="Aptos"/>
                <a:ea typeface="ＭＳ Ｐゴシック"/>
              </a:rPr>
              <a:t>• </a:t>
            </a:r>
            <a:r>
              <a:rPr lang="en-US" sz="2150" b="1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Problem Statement ID – </a:t>
            </a:r>
            <a:r>
              <a:rPr lang="en-US" sz="2150" b="0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SIH26089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50" b="0" u="none" strike="noStrike">
                <a:solidFill>
                  <a:srgbClr val="1F4E79"/>
                </a:solidFill>
                <a:effectLst/>
                <a:uFillTx/>
                <a:latin typeface="Aptos"/>
                <a:ea typeface="ＭＳ Ｐゴシック"/>
              </a:rPr>
              <a:t>• </a:t>
            </a:r>
            <a:r>
              <a:rPr lang="en-US" sz="2150" b="1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Problem Statement Title – </a:t>
            </a:r>
            <a:r>
              <a:rPr lang="en-US" sz="2150" b="0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Cooperative-Owned Digital Marketplace for Labour Cooperative Federations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50" b="0" u="none" strike="noStrike">
                <a:solidFill>
                  <a:srgbClr val="1F4E79"/>
                </a:solidFill>
                <a:effectLst/>
                <a:uFillTx/>
                <a:latin typeface="Aptos"/>
                <a:ea typeface="ＭＳ Ｐゴシック"/>
              </a:rPr>
              <a:t>• </a:t>
            </a:r>
            <a:r>
              <a:rPr lang="en-US" sz="2150" b="1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Theme – </a:t>
            </a:r>
            <a:r>
              <a:rPr lang="en-US" sz="2150" b="0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Smart Automation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50" b="0" u="none" strike="noStrike">
                <a:solidFill>
                  <a:srgbClr val="1F4E79"/>
                </a:solidFill>
                <a:effectLst/>
                <a:uFillTx/>
                <a:latin typeface="Aptos"/>
                <a:ea typeface="ＭＳ Ｐゴシック"/>
              </a:rPr>
              <a:t>• </a:t>
            </a:r>
            <a:r>
              <a:rPr lang="en-US" sz="2150" b="1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PS Category – </a:t>
            </a:r>
            <a:r>
              <a:rPr lang="en-US" sz="2150" b="0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Software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50" b="0" u="none" strike="noStrike">
                <a:solidFill>
                  <a:srgbClr val="1F4E79"/>
                </a:solidFill>
                <a:effectLst/>
                <a:uFillTx/>
                <a:latin typeface="Aptos"/>
                <a:ea typeface="ＭＳ Ｐゴシック"/>
              </a:rPr>
              <a:t>• </a:t>
            </a:r>
            <a:r>
              <a:rPr lang="en-US" sz="2150" b="1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Team ID – </a:t>
            </a:r>
            <a:r>
              <a:rPr lang="en-US" sz="2150" b="0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ACET_SIH26_006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2150" b="0" u="none" strike="noStrike">
                <a:solidFill>
                  <a:srgbClr val="1F4E79"/>
                </a:solidFill>
                <a:effectLst/>
                <a:uFillTx/>
                <a:latin typeface="Aptos"/>
                <a:ea typeface="ＭＳ Ｐゴシック"/>
              </a:rPr>
              <a:t>• </a:t>
            </a:r>
            <a:r>
              <a:rPr lang="en-US" sz="2150" b="1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Team Name – </a:t>
            </a:r>
            <a:r>
              <a:rPr lang="en-US" sz="2150" b="0" u="none" strike="noStrike">
                <a:solidFill>
                  <a:srgbClr val="1B2A38"/>
                </a:solidFill>
                <a:effectLst/>
                <a:uFillTx/>
                <a:latin typeface="Aptos"/>
                <a:ea typeface="ＭＳ Ｐゴシック"/>
              </a:rPr>
              <a:t>SAHAKARYA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1"/>
          <p:cNvPicPr/>
          <p:nvPr/>
        </p:nvPicPr>
        <p:blipFill>
          <a:blip r:embed="rId2"/>
          <a:stretch/>
        </p:blipFill>
        <p:spPr>
          <a:xfrm>
            <a:off x="9780120" y="1440"/>
            <a:ext cx="2248560" cy="10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Subtitle 3"/>
          <p:cNvSpPr/>
          <p:nvPr/>
        </p:nvSpPr>
        <p:spPr>
          <a:xfrm>
            <a:off x="1245600" y="649080"/>
            <a:ext cx="8533440" cy="1751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TITLE PAGE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8"/>
          <p:cNvSpPr/>
          <p:nvPr/>
        </p:nvSpPr>
        <p:spPr>
          <a:xfrm>
            <a:off x="0" y="6354720"/>
            <a:ext cx="12190680" cy="50184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106360" y="-47520"/>
            <a:ext cx="752292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5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SAHAKARYA — COOPERATIVE MARKETPLACE</a:t>
            </a:r>
            <a:endParaRPr lang="en-US" sz="2650" b="0" u="none" strike="noStrike">
              <a:solidFill>
                <a:srgbClr val="000000"/>
              </a:solidFill>
              <a:effectLst/>
              <a:uFillTx/>
              <a:latin typeface="TradeGothic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38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96B14B0-6D46-42BB-95D2-2BC0ED6B42AA}" type="slidenum">
              <a:rPr lang="en-US" sz="138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Oval 9" descr="Your startup LOGO"/>
          <p:cNvSpPr/>
          <p:nvPr/>
        </p:nvSpPr>
        <p:spPr>
          <a:xfrm>
            <a:off x="228600" y="228600"/>
            <a:ext cx="1726560" cy="88920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SAHAKARYA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8560" cy="10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15361"/>
          <p:cNvSpPr/>
          <p:nvPr/>
        </p:nvSpPr>
        <p:spPr>
          <a:xfrm>
            <a:off x="320040" y="1188720"/>
            <a:ext cx="11474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FROM PLATFORM DEPENDENCY  →  COOPERATIVE OWNERSHIP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5362"/>
          <p:cNvSpPr/>
          <p:nvPr/>
        </p:nvSpPr>
        <p:spPr>
          <a:xfrm>
            <a:off x="411480" y="1719000"/>
            <a:ext cx="3701880" cy="4067640"/>
          </a:xfrm>
          <a:prstGeom prst="roundRect">
            <a:avLst>
              <a:gd name="adj" fmla="val 16667"/>
            </a:avLst>
          </a:prstGeom>
          <a:solidFill>
            <a:srgbClr val="FDEDEB"/>
          </a:solidFill>
          <a:ln w="15240">
            <a:solidFill>
              <a:srgbClr val="ECBDB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5363"/>
          <p:cNvSpPr/>
          <p:nvPr/>
        </p:nvSpPr>
        <p:spPr>
          <a:xfrm>
            <a:off x="462960" y="1900800"/>
            <a:ext cx="35989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50" b="1" u="none" strike="noStrike">
                <a:solidFill>
                  <a:srgbClr val="B83E3A"/>
                </a:solidFill>
                <a:effectLst/>
                <a:uFillTx/>
                <a:latin typeface="Arial"/>
                <a:ea typeface="ＭＳ Ｐゴシック"/>
              </a:rPr>
              <a:t>CURRENT GIG ECOSYSTEM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5364"/>
          <p:cNvSpPr/>
          <p:nvPr/>
        </p:nvSpPr>
        <p:spPr>
          <a:xfrm>
            <a:off x="694800" y="2395800"/>
            <a:ext cx="31258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F1D6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5365"/>
          <p:cNvSpPr/>
          <p:nvPr/>
        </p:nvSpPr>
        <p:spPr>
          <a:xfrm>
            <a:off x="804600" y="2459880"/>
            <a:ext cx="2906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2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Worker / Cooperative Member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Connector 15366"/>
          <p:cNvCxnSpPr/>
          <p:nvPr/>
        </p:nvCxnSpPr>
        <p:spPr>
          <a:xfrm>
            <a:off x="2258280" y="2788920"/>
            <a:ext cx="1440" cy="110880"/>
          </a:xfrm>
          <a:prstGeom prst="straightConnector1">
            <a:avLst/>
          </a:prstGeom>
          <a:ln w="15240">
            <a:solidFill>
              <a:srgbClr val="CD918C"/>
            </a:solidFill>
            <a:round/>
          </a:ln>
        </p:spPr>
      </p:cxnSp>
      <p:sp>
        <p:nvSpPr>
          <p:cNvPr id="84" name="Rounded Rectangle 15367"/>
          <p:cNvSpPr/>
          <p:nvPr/>
        </p:nvSpPr>
        <p:spPr>
          <a:xfrm>
            <a:off x="694800" y="2907720"/>
            <a:ext cx="31258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F1D6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5368"/>
          <p:cNvSpPr/>
          <p:nvPr/>
        </p:nvSpPr>
        <p:spPr>
          <a:xfrm>
            <a:off x="804600" y="2971800"/>
            <a:ext cx="2906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2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Private gig aggregator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Connector 15369"/>
          <p:cNvCxnSpPr/>
          <p:nvPr/>
        </p:nvCxnSpPr>
        <p:spPr>
          <a:xfrm>
            <a:off x="2258280" y="3300840"/>
            <a:ext cx="1440" cy="111240"/>
          </a:xfrm>
          <a:prstGeom prst="straightConnector1">
            <a:avLst/>
          </a:prstGeom>
          <a:ln w="15240">
            <a:solidFill>
              <a:srgbClr val="CD918C"/>
            </a:solidFill>
            <a:round/>
          </a:ln>
        </p:spPr>
      </p:cxnSp>
      <p:sp>
        <p:nvSpPr>
          <p:cNvPr id="87" name="Rounded Rectangle 15370"/>
          <p:cNvSpPr/>
          <p:nvPr/>
        </p:nvSpPr>
        <p:spPr>
          <a:xfrm>
            <a:off x="694800" y="3420000"/>
            <a:ext cx="31258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F1D6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5371"/>
          <p:cNvSpPr/>
          <p:nvPr/>
        </p:nvSpPr>
        <p:spPr>
          <a:xfrm>
            <a:off x="804600" y="3483720"/>
            <a:ext cx="2906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2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Platform-controlled demand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Connector 15372"/>
          <p:cNvCxnSpPr/>
          <p:nvPr/>
        </p:nvCxnSpPr>
        <p:spPr>
          <a:xfrm>
            <a:off x="2258280" y="3812760"/>
            <a:ext cx="1440" cy="111240"/>
          </a:xfrm>
          <a:prstGeom prst="straightConnector1">
            <a:avLst/>
          </a:prstGeom>
          <a:ln w="15240">
            <a:solidFill>
              <a:srgbClr val="CD918C"/>
            </a:solidFill>
            <a:round/>
          </a:ln>
        </p:spPr>
      </p:cxnSp>
      <p:sp>
        <p:nvSpPr>
          <p:cNvPr id="90" name="Rounded Rectangle 15373"/>
          <p:cNvSpPr/>
          <p:nvPr/>
        </p:nvSpPr>
        <p:spPr>
          <a:xfrm>
            <a:off x="694800" y="3931920"/>
            <a:ext cx="31258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F1D6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5374"/>
          <p:cNvSpPr/>
          <p:nvPr/>
        </p:nvSpPr>
        <p:spPr>
          <a:xfrm>
            <a:off x="804600" y="3996000"/>
            <a:ext cx="2906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20" b="1" u="none" strike="noStrike">
                <a:solidFill>
                  <a:srgbClr val="B83E3A"/>
                </a:solidFill>
                <a:effectLst/>
                <a:uFillTx/>
                <a:latin typeface="Arial"/>
                <a:ea typeface="ＭＳ Ｐゴシック"/>
              </a:rPr>
              <a:t>20–30% commission*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Connector 15375"/>
          <p:cNvCxnSpPr/>
          <p:nvPr/>
        </p:nvCxnSpPr>
        <p:spPr>
          <a:xfrm>
            <a:off x="2258280" y="4325040"/>
            <a:ext cx="1440" cy="111240"/>
          </a:xfrm>
          <a:prstGeom prst="straightConnector1">
            <a:avLst/>
          </a:prstGeom>
          <a:ln w="15240">
            <a:solidFill>
              <a:srgbClr val="CD918C"/>
            </a:solidFill>
            <a:round/>
          </a:ln>
        </p:spPr>
      </p:cxnSp>
      <p:sp>
        <p:nvSpPr>
          <p:cNvPr id="93" name="Rounded Rectangle 15376"/>
          <p:cNvSpPr/>
          <p:nvPr/>
        </p:nvSpPr>
        <p:spPr>
          <a:xfrm>
            <a:off x="694800" y="4443840"/>
            <a:ext cx="31258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F1D6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5377"/>
          <p:cNvSpPr/>
          <p:nvPr/>
        </p:nvSpPr>
        <p:spPr>
          <a:xfrm>
            <a:off x="804600" y="4507920"/>
            <a:ext cx="2906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2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Reduced worker take-home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Connector 15378"/>
          <p:cNvCxnSpPr/>
          <p:nvPr/>
        </p:nvCxnSpPr>
        <p:spPr>
          <a:xfrm>
            <a:off x="2258280" y="4836960"/>
            <a:ext cx="1440" cy="111240"/>
          </a:xfrm>
          <a:prstGeom prst="straightConnector1">
            <a:avLst/>
          </a:prstGeom>
          <a:ln w="15240">
            <a:solidFill>
              <a:srgbClr val="CD918C"/>
            </a:solidFill>
            <a:round/>
          </a:ln>
        </p:spPr>
      </p:cxnSp>
      <p:sp>
        <p:nvSpPr>
          <p:cNvPr id="96" name="Rounded Rectangle 15379"/>
          <p:cNvSpPr/>
          <p:nvPr/>
        </p:nvSpPr>
        <p:spPr>
          <a:xfrm>
            <a:off x="694800" y="4956120"/>
            <a:ext cx="31258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F1D6D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15380"/>
          <p:cNvSpPr/>
          <p:nvPr/>
        </p:nvSpPr>
        <p:spPr>
          <a:xfrm>
            <a:off x="804600" y="5020200"/>
            <a:ext cx="2906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2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Limited collective welfare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val 15381"/>
          <p:cNvSpPr/>
          <p:nvPr/>
        </p:nvSpPr>
        <p:spPr>
          <a:xfrm>
            <a:off x="4435200" y="2953440"/>
            <a:ext cx="821520" cy="82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ＭＳ Ｐゴシック"/>
              </a:rPr>
              <a:t>→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5382"/>
          <p:cNvSpPr/>
          <p:nvPr/>
        </p:nvSpPr>
        <p:spPr>
          <a:xfrm>
            <a:off x="4389840" y="2239560"/>
            <a:ext cx="137016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RETHINK THE BUSINESS MODEL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5383"/>
          <p:cNvSpPr/>
          <p:nvPr/>
        </p:nvSpPr>
        <p:spPr>
          <a:xfrm>
            <a:off x="4343400" y="3989520"/>
            <a:ext cx="13701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>
              <a:lnSpc>
                <a:spcPct val="100000"/>
              </a:lnSpc>
            </a:pPr>
            <a:r>
              <a:rPr lang="en-US" sz="1120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The platform is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20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owned by the cooperative.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15384"/>
          <p:cNvSpPr/>
          <p:nvPr/>
        </p:nvSpPr>
        <p:spPr>
          <a:xfrm>
            <a:off x="5532120" y="1719000"/>
            <a:ext cx="6243840" cy="4067640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 w="15240">
            <a:solidFill>
              <a:srgbClr val="AED8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5385"/>
          <p:cNvSpPr/>
          <p:nvPr/>
        </p:nvSpPr>
        <p:spPr>
          <a:xfrm>
            <a:off x="5760720" y="1920240"/>
            <a:ext cx="57592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5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SAHAKARYA MODEL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5386"/>
          <p:cNvSpPr/>
          <p:nvPr/>
        </p:nvSpPr>
        <p:spPr>
          <a:xfrm>
            <a:off x="5833800" y="2395800"/>
            <a:ext cx="1507320" cy="50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1D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5387"/>
          <p:cNvSpPr/>
          <p:nvPr/>
        </p:nvSpPr>
        <p:spPr>
          <a:xfrm>
            <a:off x="5925240" y="2487240"/>
            <a:ext cx="13244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8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CUSTOMER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5388"/>
          <p:cNvSpPr/>
          <p:nvPr/>
        </p:nvSpPr>
        <p:spPr>
          <a:xfrm>
            <a:off x="7333560" y="2468880"/>
            <a:ext cx="4374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5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5389"/>
          <p:cNvSpPr/>
          <p:nvPr/>
        </p:nvSpPr>
        <p:spPr>
          <a:xfrm>
            <a:off x="7790760" y="2267640"/>
            <a:ext cx="1827360" cy="74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C7D4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5390"/>
          <p:cNvSpPr/>
          <p:nvPr/>
        </p:nvSpPr>
        <p:spPr>
          <a:xfrm>
            <a:off x="7936920" y="2410200"/>
            <a:ext cx="153468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8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SAHAKARYA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8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MARKETPLACE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5391"/>
          <p:cNvSpPr/>
          <p:nvPr/>
        </p:nvSpPr>
        <p:spPr>
          <a:xfrm>
            <a:off x="9674280" y="2468880"/>
            <a:ext cx="4374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5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5392"/>
          <p:cNvSpPr/>
          <p:nvPr/>
        </p:nvSpPr>
        <p:spPr>
          <a:xfrm>
            <a:off x="10131480" y="2395800"/>
            <a:ext cx="1351800" cy="50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1D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5393"/>
          <p:cNvSpPr/>
          <p:nvPr/>
        </p:nvSpPr>
        <p:spPr>
          <a:xfrm>
            <a:off x="10186560" y="2487240"/>
            <a:ext cx="12420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VERIFIED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WORKER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5394"/>
          <p:cNvSpPr/>
          <p:nvPr/>
        </p:nvSpPr>
        <p:spPr>
          <a:xfrm>
            <a:off x="5833800" y="3218760"/>
            <a:ext cx="56494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80" b="1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ECONOMIC CHARTER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5395"/>
          <p:cNvSpPr/>
          <p:nvPr/>
        </p:nvSpPr>
        <p:spPr>
          <a:xfrm>
            <a:off x="5897880" y="3520440"/>
            <a:ext cx="1735920" cy="91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5396"/>
          <p:cNvSpPr/>
          <p:nvPr/>
        </p:nvSpPr>
        <p:spPr>
          <a:xfrm>
            <a:off x="5970960" y="3675960"/>
            <a:ext cx="1589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5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95%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5397"/>
          <p:cNvSpPr/>
          <p:nvPr/>
        </p:nvSpPr>
        <p:spPr>
          <a:xfrm>
            <a:off x="5989320" y="4096440"/>
            <a:ext cx="1553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8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Worker take-home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5398"/>
          <p:cNvSpPr/>
          <p:nvPr/>
        </p:nvSpPr>
        <p:spPr>
          <a:xfrm>
            <a:off x="7754040" y="3520440"/>
            <a:ext cx="1735920" cy="91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5399"/>
          <p:cNvSpPr/>
          <p:nvPr/>
        </p:nvSpPr>
        <p:spPr>
          <a:xfrm>
            <a:off x="7827120" y="3675960"/>
            <a:ext cx="1589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50" b="1" u="none" strike="noStrike">
                <a:solidFill>
                  <a:srgbClr val="E17F21"/>
                </a:solidFill>
                <a:effectLst/>
                <a:uFillTx/>
                <a:latin typeface="Arial"/>
                <a:ea typeface="ＭＳ Ｐゴシック"/>
              </a:rPr>
              <a:t>5%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5400"/>
          <p:cNvSpPr/>
          <p:nvPr/>
        </p:nvSpPr>
        <p:spPr>
          <a:xfrm>
            <a:off x="7845480" y="4096440"/>
            <a:ext cx="1553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8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Welfare Fund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15401"/>
          <p:cNvSpPr/>
          <p:nvPr/>
        </p:nvSpPr>
        <p:spPr>
          <a:xfrm>
            <a:off x="9610200" y="3520440"/>
            <a:ext cx="1735920" cy="91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5402"/>
          <p:cNvSpPr/>
          <p:nvPr/>
        </p:nvSpPr>
        <p:spPr>
          <a:xfrm>
            <a:off x="9683640" y="3675960"/>
            <a:ext cx="1589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5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0%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5403"/>
          <p:cNvSpPr/>
          <p:nvPr/>
        </p:nvSpPr>
        <p:spPr>
          <a:xfrm>
            <a:off x="9701640" y="4096440"/>
            <a:ext cx="1553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8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Platform cut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5404"/>
          <p:cNvSpPr/>
          <p:nvPr/>
        </p:nvSpPr>
        <p:spPr>
          <a:xfrm>
            <a:off x="5833800" y="4626720"/>
            <a:ext cx="17542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DE2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5405"/>
          <p:cNvSpPr/>
          <p:nvPr/>
        </p:nvSpPr>
        <p:spPr>
          <a:xfrm>
            <a:off x="5897880" y="4672440"/>
            <a:ext cx="1626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2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Fair matching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5406"/>
          <p:cNvSpPr/>
          <p:nvPr/>
        </p:nvSpPr>
        <p:spPr>
          <a:xfrm>
            <a:off x="5897880" y="4837320"/>
            <a:ext cx="16261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distance + rating + skill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5407"/>
          <p:cNvSpPr/>
          <p:nvPr/>
        </p:nvSpPr>
        <p:spPr>
          <a:xfrm>
            <a:off x="7735680" y="4626720"/>
            <a:ext cx="17542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DE2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5408"/>
          <p:cNvSpPr/>
          <p:nvPr/>
        </p:nvSpPr>
        <p:spPr>
          <a:xfrm>
            <a:off x="7799760" y="4672440"/>
            <a:ext cx="1626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2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Verified workforce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5409"/>
          <p:cNvSpPr/>
          <p:nvPr/>
        </p:nvSpPr>
        <p:spPr>
          <a:xfrm>
            <a:off x="7799760" y="4837320"/>
            <a:ext cx="16261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federation roster + NCCT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15410"/>
          <p:cNvSpPr/>
          <p:nvPr/>
        </p:nvSpPr>
        <p:spPr>
          <a:xfrm>
            <a:off x="9637920" y="4626720"/>
            <a:ext cx="17542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DE2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5411"/>
          <p:cNvSpPr/>
          <p:nvPr/>
        </p:nvSpPr>
        <p:spPr>
          <a:xfrm>
            <a:off x="9701640" y="4672440"/>
            <a:ext cx="1626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2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Fixed tariffs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5412"/>
          <p:cNvSpPr/>
          <p:nvPr/>
        </p:nvSpPr>
        <p:spPr>
          <a:xfrm>
            <a:off x="9701640" y="4837320"/>
            <a:ext cx="16261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no surge pricing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5413"/>
          <p:cNvSpPr/>
          <p:nvPr/>
        </p:nvSpPr>
        <p:spPr>
          <a:xfrm>
            <a:off x="5833800" y="5129640"/>
            <a:ext cx="17542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DE2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5414"/>
          <p:cNvSpPr/>
          <p:nvPr/>
        </p:nvSpPr>
        <p:spPr>
          <a:xfrm>
            <a:off x="5897880" y="5175360"/>
            <a:ext cx="1626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2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Live service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5415"/>
          <p:cNvSpPr/>
          <p:nvPr/>
        </p:nvSpPr>
        <p:spPr>
          <a:xfrm>
            <a:off x="5897880" y="5340240"/>
            <a:ext cx="16261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GPS + ETA + chat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5416"/>
          <p:cNvSpPr/>
          <p:nvPr/>
        </p:nvSpPr>
        <p:spPr>
          <a:xfrm>
            <a:off x="7735680" y="5129640"/>
            <a:ext cx="17542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DE2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5417"/>
          <p:cNvSpPr/>
          <p:nvPr/>
        </p:nvSpPr>
        <p:spPr>
          <a:xfrm>
            <a:off x="7799760" y="5175360"/>
            <a:ext cx="1626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2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Worker welfare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5418"/>
          <p:cNvSpPr/>
          <p:nvPr/>
        </p:nvSpPr>
        <p:spPr>
          <a:xfrm>
            <a:off x="7799760" y="5340240"/>
            <a:ext cx="16261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medical + tools + training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15419"/>
          <p:cNvSpPr/>
          <p:nvPr/>
        </p:nvSpPr>
        <p:spPr>
          <a:xfrm>
            <a:off x="9637920" y="5129640"/>
            <a:ext cx="1754280" cy="3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CDE2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5420"/>
          <p:cNvSpPr/>
          <p:nvPr/>
        </p:nvSpPr>
        <p:spPr>
          <a:xfrm>
            <a:off x="9701640" y="5175360"/>
            <a:ext cx="162612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2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Smart automation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5421"/>
          <p:cNvSpPr/>
          <p:nvPr/>
        </p:nvSpPr>
        <p:spPr>
          <a:xfrm>
            <a:off x="9701640" y="5340240"/>
            <a:ext cx="16261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8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7-day demand forecast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9"/>
          <p:cNvSpPr/>
          <p:nvPr/>
        </p:nvSpPr>
        <p:spPr>
          <a:xfrm>
            <a:off x="0" y="6354720"/>
            <a:ext cx="12190680" cy="50184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TECHNICAL APPROACH — SAHAKARYA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radeGothic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38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2FE58D7-D820-4D52-AA2B-B3B71A90664A}" type="slidenum">
              <a:rPr lang="en-US" sz="138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2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8560" cy="10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Box 17409"/>
          <p:cNvSpPr/>
          <p:nvPr/>
        </p:nvSpPr>
        <p:spPr>
          <a:xfrm>
            <a:off x="502920" y="1124640"/>
            <a:ext cx="11108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3 client experiences  →  1 real-time backend  →  data + geospatial matching  →  ML forecast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7410"/>
          <p:cNvSpPr/>
          <p:nvPr/>
        </p:nvSpPr>
        <p:spPr>
          <a:xfrm>
            <a:off x="502920" y="1572840"/>
            <a:ext cx="3491640" cy="1168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17411"/>
          <p:cNvSpPr/>
          <p:nvPr/>
        </p:nvSpPr>
        <p:spPr>
          <a:xfrm>
            <a:off x="594360" y="1700640"/>
            <a:ext cx="33087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CUSTOMER APP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7412"/>
          <p:cNvSpPr/>
          <p:nvPr/>
        </p:nvSpPr>
        <p:spPr>
          <a:xfrm>
            <a:off x="594360" y="1947600"/>
            <a:ext cx="3308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Flutter 3.x • Dart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7413"/>
          <p:cNvSpPr/>
          <p:nvPr/>
        </p:nvSpPr>
        <p:spPr>
          <a:xfrm>
            <a:off x="640080" y="2194560"/>
            <a:ext cx="32173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Discovery • fixed tariffs GPS tracking • chat • billing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17414"/>
          <p:cNvSpPr/>
          <p:nvPr/>
        </p:nvSpPr>
        <p:spPr>
          <a:xfrm>
            <a:off x="4233600" y="1572840"/>
            <a:ext cx="3491640" cy="1168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17415"/>
          <p:cNvSpPr/>
          <p:nvPr/>
        </p:nvSpPr>
        <p:spPr>
          <a:xfrm>
            <a:off x="4325040" y="1700640"/>
            <a:ext cx="33087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PARTNER APP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7416"/>
          <p:cNvSpPr/>
          <p:nvPr/>
        </p:nvSpPr>
        <p:spPr>
          <a:xfrm>
            <a:off x="4325040" y="1947600"/>
            <a:ext cx="3308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Flutter 3.x • Dart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7417"/>
          <p:cNvSpPr/>
          <p:nvPr/>
        </p:nvSpPr>
        <p:spPr>
          <a:xfrm>
            <a:off x="4370760" y="2194560"/>
            <a:ext cx="321732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Availability radar • dispatch payouts • welfare claims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7418"/>
          <p:cNvSpPr/>
          <p:nvPr/>
        </p:nvSpPr>
        <p:spPr>
          <a:xfrm>
            <a:off x="7964280" y="1572840"/>
            <a:ext cx="3491640" cy="11689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17419"/>
          <p:cNvSpPr/>
          <p:nvPr/>
        </p:nvSpPr>
        <p:spPr>
          <a:xfrm>
            <a:off x="8055720" y="1700640"/>
            <a:ext cx="33087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FEDERATION CONTROL CENTER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7420"/>
          <p:cNvSpPr/>
          <p:nvPr/>
        </p:nvSpPr>
        <p:spPr>
          <a:xfrm>
            <a:off x="8055720" y="1947600"/>
            <a:ext cx="33087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React 18 • Vite • TypeScript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7421"/>
          <p:cNvSpPr/>
          <p:nvPr/>
        </p:nvSpPr>
        <p:spPr>
          <a:xfrm>
            <a:off x="8101440" y="2194560"/>
            <a:ext cx="321732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Worker roster • live monitor policy • welfare ledger • analytics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Connector 17422"/>
          <p:cNvCxnSpPr/>
          <p:nvPr/>
        </p:nvCxnSpPr>
        <p:spPr>
          <a:xfrm>
            <a:off x="2286000" y="2761200"/>
            <a:ext cx="1440" cy="275760"/>
          </a:xfrm>
          <a:prstGeom prst="straightConnector1">
            <a:avLst/>
          </a:prstGeom>
          <a:ln w="16510">
            <a:solidFill>
              <a:srgbClr val="1F4E79"/>
            </a:solidFill>
            <a:round/>
          </a:ln>
        </p:spPr>
      </p:cxnSp>
      <p:cxnSp>
        <p:nvCxnSpPr>
          <p:cNvPr id="157" name="Connector 17423"/>
          <p:cNvCxnSpPr/>
          <p:nvPr/>
        </p:nvCxnSpPr>
        <p:spPr>
          <a:xfrm>
            <a:off x="6016680" y="2761200"/>
            <a:ext cx="1440" cy="275760"/>
          </a:xfrm>
          <a:prstGeom prst="straightConnector1">
            <a:avLst/>
          </a:prstGeom>
          <a:ln w="16510">
            <a:solidFill>
              <a:srgbClr val="1F4E79"/>
            </a:solidFill>
            <a:round/>
          </a:ln>
        </p:spPr>
      </p:cxnSp>
      <p:cxnSp>
        <p:nvCxnSpPr>
          <p:cNvPr id="158" name="Connector 17424"/>
          <p:cNvCxnSpPr/>
          <p:nvPr/>
        </p:nvCxnSpPr>
        <p:spPr>
          <a:xfrm>
            <a:off x="9747360" y="2761200"/>
            <a:ext cx="1440" cy="275760"/>
          </a:xfrm>
          <a:prstGeom prst="straightConnector1">
            <a:avLst/>
          </a:prstGeom>
          <a:ln w="16510">
            <a:solidFill>
              <a:srgbClr val="1F4E79"/>
            </a:solidFill>
            <a:round/>
          </a:ln>
        </p:spPr>
      </p:cxnSp>
      <p:sp>
        <p:nvSpPr>
          <p:cNvPr id="159" name="Rounded Rectangle 17425"/>
          <p:cNvSpPr/>
          <p:nvPr/>
        </p:nvSpPr>
        <p:spPr>
          <a:xfrm>
            <a:off x="1143000" y="3035880"/>
            <a:ext cx="9828360" cy="958680"/>
          </a:xfrm>
          <a:prstGeom prst="roundRect">
            <a:avLst>
              <a:gd name="adj" fmla="val 16667"/>
            </a:avLst>
          </a:prstGeom>
          <a:solidFill>
            <a:srgbClr val="ECF3F9"/>
          </a:solidFill>
          <a:ln w="1524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7426"/>
          <p:cNvSpPr/>
          <p:nvPr/>
        </p:nvSpPr>
        <p:spPr>
          <a:xfrm>
            <a:off x="1371600" y="3182040"/>
            <a:ext cx="93711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FASTAPI ASYNC GATEWAY  +  PYTHON-SOCKETIO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7427"/>
          <p:cNvSpPr/>
          <p:nvPr/>
        </p:nvSpPr>
        <p:spPr>
          <a:xfrm>
            <a:off x="1371600" y="3493080"/>
            <a:ext cx="93711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8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Python 3.11 • JWT role guards • real-time events • Fair Match = distance decay + rating + skill bonus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" name="Connector 17428"/>
          <p:cNvCxnSpPr/>
          <p:nvPr/>
        </p:nvCxnSpPr>
        <p:spPr>
          <a:xfrm>
            <a:off x="3657600" y="3995640"/>
            <a:ext cx="1440" cy="303480"/>
          </a:xfrm>
          <a:prstGeom prst="straightConnector1">
            <a:avLst/>
          </a:prstGeom>
          <a:ln w="16510">
            <a:solidFill>
              <a:srgbClr val="1F4E79"/>
            </a:solidFill>
            <a:round/>
          </a:ln>
        </p:spPr>
      </p:cxnSp>
      <p:cxnSp>
        <p:nvCxnSpPr>
          <p:cNvPr id="163" name="Connector 17429"/>
          <p:cNvCxnSpPr/>
          <p:nvPr/>
        </p:nvCxnSpPr>
        <p:spPr>
          <a:xfrm>
            <a:off x="8138160" y="3995640"/>
            <a:ext cx="1440" cy="303480"/>
          </a:xfrm>
          <a:prstGeom prst="straightConnector1">
            <a:avLst/>
          </a:prstGeom>
          <a:ln w="16510">
            <a:solidFill>
              <a:srgbClr val="1F4E79"/>
            </a:solidFill>
            <a:round/>
          </a:ln>
        </p:spPr>
      </p:cxnSp>
      <p:sp>
        <p:nvSpPr>
          <p:cNvPr id="164" name="Rounded Rectangle 17430"/>
          <p:cNvSpPr/>
          <p:nvPr/>
        </p:nvSpPr>
        <p:spPr>
          <a:xfrm>
            <a:off x="777240" y="4297680"/>
            <a:ext cx="5576400" cy="102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8D8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7431"/>
          <p:cNvSpPr/>
          <p:nvPr/>
        </p:nvSpPr>
        <p:spPr>
          <a:xfrm>
            <a:off x="960120" y="4462200"/>
            <a:ext cx="5210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8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MONGODB + GEOSPATIAL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7432"/>
          <p:cNvSpPr/>
          <p:nvPr/>
        </p:nvSpPr>
        <p:spPr>
          <a:xfrm>
            <a:off x="1024200" y="4745880"/>
            <a:ext cx="507348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2dsphere search • Beanie/Pydantic • location-based discovery Welfare audit ledger • scalable data layer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7433"/>
          <p:cNvSpPr/>
          <p:nvPr/>
        </p:nvSpPr>
        <p:spPr>
          <a:xfrm>
            <a:off x="6583680" y="4297680"/>
            <a:ext cx="4844880" cy="102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8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17434"/>
          <p:cNvSpPr/>
          <p:nvPr/>
        </p:nvSpPr>
        <p:spPr>
          <a:xfrm>
            <a:off x="6766560" y="4462200"/>
            <a:ext cx="447912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8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ML — GRADIENTBOOSTINGREGRESSOR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7435"/>
          <p:cNvSpPr/>
          <p:nvPr/>
        </p:nvSpPr>
        <p:spPr>
          <a:xfrm>
            <a:off x="6812280" y="4745880"/>
            <a:ext cx="438768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R² = 0.958  •  MAE = 1.10 bookings/day 7-day forecast • festival + weekly seasonality factors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7436"/>
          <p:cNvSpPr/>
          <p:nvPr/>
        </p:nvSpPr>
        <p:spPr>
          <a:xfrm>
            <a:off x="914400" y="5815800"/>
            <a:ext cx="18273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IMPLEMENTATION 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17437"/>
          <p:cNvSpPr/>
          <p:nvPr/>
        </p:nvSpPr>
        <p:spPr>
          <a:xfrm>
            <a:off x="2560320" y="5715000"/>
            <a:ext cx="1370160" cy="3916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17438"/>
          <p:cNvSpPr/>
          <p:nvPr/>
        </p:nvSpPr>
        <p:spPr>
          <a:xfrm>
            <a:off x="2606040" y="5803920"/>
            <a:ext cx="1278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BOOK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7439"/>
          <p:cNvSpPr/>
          <p:nvPr/>
        </p:nvSpPr>
        <p:spPr>
          <a:xfrm>
            <a:off x="3931920" y="5806440"/>
            <a:ext cx="32760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80" b="1" u="none" strike="noStrike">
                <a:solidFill>
                  <a:srgbClr val="0977BE"/>
                </a:solidFill>
                <a:effectLst/>
                <a:uFillTx/>
                <a:latin typeface="Arial"/>
                <a:ea typeface="ＭＳ Ｐゴシック"/>
              </a:rPr>
              <a:t>→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17440"/>
          <p:cNvSpPr/>
          <p:nvPr/>
        </p:nvSpPr>
        <p:spPr>
          <a:xfrm>
            <a:off x="4270320" y="5715000"/>
            <a:ext cx="1370160" cy="3916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7441"/>
          <p:cNvSpPr/>
          <p:nvPr/>
        </p:nvSpPr>
        <p:spPr>
          <a:xfrm>
            <a:off x="4316040" y="5803920"/>
            <a:ext cx="1278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MATCH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7442"/>
          <p:cNvSpPr/>
          <p:nvPr/>
        </p:nvSpPr>
        <p:spPr>
          <a:xfrm>
            <a:off x="5641920" y="5806440"/>
            <a:ext cx="32760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80" b="1" u="none" strike="noStrike">
                <a:solidFill>
                  <a:srgbClr val="0977BE"/>
                </a:solidFill>
                <a:effectLst/>
                <a:uFillTx/>
                <a:latin typeface="Arial"/>
                <a:ea typeface="ＭＳ Ｐゴシック"/>
              </a:rPr>
              <a:t>→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7443"/>
          <p:cNvSpPr/>
          <p:nvPr/>
        </p:nvSpPr>
        <p:spPr>
          <a:xfrm>
            <a:off x="5980320" y="5715000"/>
            <a:ext cx="1370160" cy="3916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7444"/>
          <p:cNvSpPr/>
          <p:nvPr/>
        </p:nvSpPr>
        <p:spPr>
          <a:xfrm>
            <a:off x="6026040" y="5803920"/>
            <a:ext cx="1278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TRACK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7445"/>
          <p:cNvSpPr/>
          <p:nvPr/>
        </p:nvSpPr>
        <p:spPr>
          <a:xfrm>
            <a:off x="7351920" y="5806440"/>
            <a:ext cx="32760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80" b="1" u="none" strike="noStrike">
                <a:solidFill>
                  <a:srgbClr val="0977BE"/>
                </a:solidFill>
                <a:effectLst/>
                <a:uFillTx/>
                <a:latin typeface="Arial"/>
                <a:ea typeface="ＭＳ Ｐゴシック"/>
              </a:rPr>
              <a:t>→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17446"/>
          <p:cNvSpPr/>
          <p:nvPr/>
        </p:nvSpPr>
        <p:spPr>
          <a:xfrm>
            <a:off x="7689960" y="5715000"/>
            <a:ext cx="1370160" cy="3916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7447"/>
          <p:cNvSpPr/>
          <p:nvPr/>
        </p:nvSpPr>
        <p:spPr>
          <a:xfrm>
            <a:off x="7735680" y="5803920"/>
            <a:ext cx="1278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SETTLE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7448"/>
          <p:cNvSpPr/>
          <p:nvPr/>
        </p:nvSpPr>
        <p:spPr>
          <a:xfrm>
            <a:off x="9061560" y="5806440"/>
            <a:ext cx="32760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80" b="1" u="none" strike="noStrike">
                <a:solidFill>
                  <a:srgbClr val="0977BE"/>
                </a:solidFill>
                <a:effectLst/>
                <a:uFillTx/>
                <a:latin typeface="Arial"/>
                <a:ea typeface="ＭＳ Ｐゴシック"/>
              </a:rPr>
              <a:t>→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7449"/>
          <p:cNvSpPr/>
          <p:nvPr/>
        </p:nvSpPr>
        <p:spPr>
          <a:xfrm>
            <a:off x="9399960" y="5715000"/>
            <a:ext cx="1370160" cy="3916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7450"/>
          <p:cNvSpPr/>
          <p:nvPr/>
        </p:nvSpPr>
        <p:spPr>
          <a:xfrm>
            <a:off x="9445680" y="5803920"/>
            <a:ext cx="1278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RATE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Oval 1" descr="Your startup LOGO"/>
          <p:cNvSpPr/>
          <p:nvPr/>
        </p:nvSpPr>
        <p:spPr>
          <a:xfrm>
            <a:off x="228960" y="228960"/>
            <a:ext cx="1726560" cy="88920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SAHAKARYA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9"/>
          <p:cNvSpPr/>
          <p:nvPr/>
        </p:nvSpPr>
        <p:spPr>
          <a:xfrm>
            <a:off x="0" y="6354720"/>
            <a:ext cx="12190680" cy="50184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FEASIBILITY AND VIABILITY — SAHAKARYA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TradeGothic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38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9AC521-609E-4740-86FD-2FC69691794D}" type="slidenum">
              <a:rPr lang="en-US" sz="138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9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8560" cy="10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Rounded Rectangle 17409"/>
          <p:cNvSpPr/>
          <p:nvPr/>
        </p:nvSpPr>
        <p:spPr>
          <a:xfrm>
            <a:off x="502920" y="1234440"/>
            <a:ext cx="3528000" cy="118728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17410"/>
          <p:cNvSpPr/>
          <p:nvPr/>
        </p:nvSpPr>
        <p:spPr>
          <a:xfrm>
            <a:off x="621720" y="1426320"/>
            <a:ext cx="32904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TECHNICALLY READY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7411"/>
          <p:cNvSpPr/>
          <p:nvPr/>
        </p:nvSpPr>
        <p:spPr>
          <a:xfrm>
            <a:off x="649080" y="1755720"/>
            <a:ext cx="323568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5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Flutter + React + FastAPI + MongoDB Modular real-time architecture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17412"/>
          <p:cNvSpPr/>
          <p:nvPr/>
        </p:nvSpPr>
        <p:spPr>
          <a:xfrm>
            <a:off x="4297680" y="1234440"/>
            <a:ext cx="3528000" cy="1187280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17413"/>
          <p:cNvSpPr/>
          <p:nvPr/>
        </p:nvSpPr>
        <p:spPr>
          <a:xfrm>
            <a:off x="4416480" y="1426320"/>
            <a:ext cx="32904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7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OPERATIONALLY FIT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7414"/>
          <p:cNvSpPr/>
          <p:nvPr/>
        </p:nvSpPr>
        <p:spPr>
          <a:xfrm>
            <a:off x="4443840" y="1755720"/>
            <a:ext cx="323568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5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Federation-managed rosters Verified workers + tariff governance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17415"/>
          <p:cNvSpPr/>
          <p:nvPr/>
        </p:nvSpPr>
        <p:spPr>
          <a:xfrm>
            <a:off x="8092440" y="1234440"/>
            <a:ext cx="3528000" cy="1187280"/>
          </a:xfrm>
          <a:prstGeom prst="roundRect">
            <a:avLst>
              <a:gd name="adj" fmla="val 16667"/>
            </a:avLst>
          </a:prstGeom>
          <a:solidFill>
            <a:srgbClr val="FFF4E7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7416"/>
          <p:cNvSpPr/>
          <p:nvPr/>
        </p:nvSpPr>
        <p:spPr>
          <a:xfrm>
            <a:off x="8211240" y="1426320"/>
            <a:ext cx="32904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E17F21"/>
                </a:solidFill>
                <a:effectLst/>
                <a:uFillTx/>
                <a:latin typeface="Arial"/>
                <a:ea typeface="ＭＳ Ｐゴシック"/>
              </a:rPr>
              <a:t>ECONOMICALLY SUSTAINABLE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7417"/>
          <p:cNvSpPr/>
          <p:nvPr/>
        </p:nvSpPr>
        <p:spPr>
          <a:xfrm>
            <a:off x="8238600" y="1755720"/>
            <a:ext cx="323568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25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95% worker payout + 5% welfare 0% extractive platform commission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7418"/>
          <p:cNvSpPr/>
          <p:nvPr/>
        </p:nvSpPr>
        <p:spPr>
          <a:xfrm>
            <a:off x="502920" y="2660760"/>
            <a:ext cx="110170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CHALLENGES / RISKS  →  MITIGATION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17419"/>
          <p:cNvSpPr/>
          <p:nvPr/>
        </p:nvSpPr>
        <p:spPr>
          <a:xfrm>
            <a:off x="530280" y="3089520"/>
            <a:ext cx="2421720" cy="41724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524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7420"/>
          <p:cNvSpPr/>
          <p:nvPr/>
        </p:nvSpPr>
        <p:spPr>
          <a:xfrm>
            <a:off x="567000" y="3132000"/>
            <a:ext cx="234864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7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RISK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7421"/>
          <p:cNvSpPr/>
          <p:nvPr/>
        </p:nvSpPr>
        <p:spPr>
          <a:xfrm>
            <a:off x="3017520" y="3089520"/>
            <a:ext cx="3701880" cy="41724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524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7422"/>
          <p:cNvSpPr/>
          <p:nvPr/>
        </p:nvSpPr>
        <p:spPr>
          <a:xfrm>
            <a:off x="3054240" y="3132000"/>
            <a:ext cx="362880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7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WHAT CAN GO WRONG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17423"/>
          <p:cNvSpPr/>
          <p:nvPr/>
        </p:nvSpPr>
        <p:spPr>
          <a:xfrm>
            <a:off x="6812280" y="3089520"/>
            <a:ext cx="4662000" cy="41724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524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7424"/>
          <p:cNvSpPr/>
          <p:nvPr/>
        </p:nvSpPr>
        <p:spPr>
          <a:xfrm>
            <a:off x="6849000" y="3132000"/>
            <a:ext cx="458892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7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HOW SAHAKARYA RESPONDS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17425"/>
          <p:cNvSpPr/>
          <p:nvPr/>
        </p:nvSpPr>
        <p:spPr>
          <a:xfrm>
            <a:off x="530280" y="3566880"/>
            <a:ext cx="2421720" cy="4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7426"/>
          <p:cNvSpPr/>
          <p:nvPr/>
        </p:nvSpPr>
        <p:spPr>
          <a:xfrm>
            <a:off x="621720" y="3661920"/>
            <a:ext cx="22388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Worker digital adoption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7427"/>
          <p:cNvSpPr/>
          <p:nvPr/>
        </p:nvSpPr>
        <p:spPr>
          <a:xfrm>
            <a:off x="3017520" y="3566880"/>
            <a:ext cx="3701880" cy="4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7428"/>
          <p:cNvSpPr/>
          <p:nvPr/>
        </p:nvSpPr>
        <p:spPr>
          <a:xfrm>
            <a:off x="3108960" y="3665880"/>
            <a:ext cx="3519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Different levels of digital literacy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17429"/>
          <p:cNvSpPr/>
          <p:nvPr/>
        </p:nvSpPr>
        <p:spPr>
          <a:xfrm>
            <a:off x="6812280" y="3566880"/>
            <a:ext cx="4662000" cy="4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7430"/>
          <p:cNvSpPr/>
          <p:nvPr/>
        </p:nvSpPr>
        <p:spPr>
          <a:xfrm>
            <a:off x="6903720" y="3670200"/>
            <a:ext cx="4479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Multilingual Flutter UX + federation-assisted onboarding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17431"/>
          <p:cNvSpPr/>
          <p:nvPr/>
        </p:nvSpPr>
        <p:spPr>
          <a:xfrm>
            <a:off x="530280" y="4063320"/>
            <a:ext cx="2421720" cy="446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7432"/>
          <p:cNvSpPr/>
          <p:nvPr/>
        </p:nvSpPr>
        <p:spPr>
          <a:xfrm>
            <a:off x="621720" y="4158720"/>
            <a:ext cx="22388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Demand–supply imbalance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17433"/>
          <p:cNvSpPr/>
          <p:nvPr/>
        </p:nvSpPr>
        <p:spPr>
          <a:xfrm>
            <a:off x="3017520" y="4063320"/>
            <a:ext cx="3701880" cy="446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7434"/>
          <p:cNvSpPr/>
          <p:nvPr/>
        </p:nvSpPr>
        <p:spPr>
          <a:xfrm>
            <a:off x="3108960" y="4162680"/>
            <a:ext cx="3519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Peak demand can create shortages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17435"/>
          <p:cNvSpPr/>
          <p:nvPr/>
        </p:nvSpPr>
        <p:spPr>
          <a:xfrm>
            <a:off x="6812280" y="4063320"/>
            <a:ext cx="4662000" cy="446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7436"/>
          <p:cNvSpPr/>
          <p:nvPr/>
        </p:nvSpPr>
        <p:spPr>
          <a:xfrm>
            <a:off x="6903720" y="4167360"/>
            <a:ext cx="4479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7-day ML forecasts + reserve-worker mobilization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17437"/>
          <p:cNvSpPr/>
          <p:nvPr/>
        </p:nvSpPr>
        <p:spPr>
          <a:xfrm>
            <a:off x="530280" y="4559760"/>
            <a:ext cx="2421720" cy="4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7438"/>
          <p:cNvSpPr/>
          <p:nvPr/>
        </p:nvSpPr>
        <p:spPr>
          <a:xfrm>
            <a:off x="621720" y="4655160"/>
            <a:ext cx="22388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Dispatch accuracy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17439"/>
          <p:cNvSpPr/>
          <p:nvPr/>
        </p:nvSpPr>
        <p:spPr>
          <a:xfrm>
            <a:off x="3017520" y="4559760"/>
            <a:ext cx="3701880" cy="4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17440"/>
          <p:cNvSpPr/>
          <p:nvPr/>
        </p:nvSpPr>
        <p:spPr>
          <a:xfrm>
            <a:off x="3108960" y="4659120"/>
            <a:ext cx="3519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Stale GPS / availability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17441"/>
          <p:cNvSpPr/>
          <p:nvPr/>
        </p:nvSpPr>
        <p:spPr>
          <a:xfrm>
            <a:off x="6812280" y="4559760"/>
            <a:ext cx="4662000" cy="4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17442"/>
          <p:cNvSpPr/>
          <p:nvPr/>
        </p:nvSpPr>
        <p:spPr>
          <a:xfrm>
            <a:off x="6903720" y="4663800"/>
            <a:ext cx="4479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Live location updates + geospatial matching + time-bound offers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17443"/>
          <p:cNvSpPr/>
          <p:nvPr/>
        </p:nvSpPr>
        <p:spPr>
          <a:xfrm>
            <a:off x="530280" y="5056920"/>
            <a:ext cx="2421720" cy="446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7444"/>
          <p:cNvSpPr/>
          <p:nvPr/>
        </p:nvSpPr>
        <p:spPr>
          <a:xfrm>
            <a:off x="621720" y="5151960"/>
            <a:ext cx="22388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Trust &amp; governance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7445"/>
          <p:cNvSpPr/>
          <p:nvPr/>
        </p:nvSpPr>
        <p:spPr>
          <a:xfrm>
            <a:off x="3017520" y="5056920"/>
            <a:ext cx="3701880" cy="446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7446"/>
          <p:cNvSpPr/>
          <p:nvPr/>
        </p:nvSpPr>
        <p:spPr>
          <a:xfrm>
            <a:off x="3108960" y="5155560"/>
            <a:ext cx="3519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Payment / welfare disputes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17447"/>
          <p:cNvSpPr/>
          <p:nvPr/>
        </p:nvSpPr>
        <p:spPr>
          <a:xfrm>
            <a:off x="6812280" y="5056920"/>
            <a:ext cx="4662000" cy="44640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7448"/>
          <p:cNvSpPr/>
          <p:nvPr/>
        </p:nvSpPr>
        <p:spPr>
          <a:xfrm>
            <a:off x="6903720" y="5160600"/>
            <a:ext cx="4479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Transparent settlement + federation-controlled audit ledger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17449"/>
          <p:cNvSpPr/>
          <p:nvPr/>
        </p:nvSpPr>
        <p:spPr>
          <a:xfrm>
            <a:off x="530280" y="5553360"/>
            <a:ext cx="2421720" cy="4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7450"/>
          <p:cNvSpPr/>
          <p:nvPr/>
        </p:nvSpPr>
        <p:spPr>
          <a:xfrm>
            <a:off x="621720" y="5648760"/>
            <a:ext cx="22388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Scale across regions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17451"/>
          <p:cNvSpPr/>
          <p:nvPr/>
        </p:nvSpPr>
        <p:spPr>
          <a:xfrm>
            <a:off x="3017520" y="5553360"/>
            <a:ext cx="3701880" cy="4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17452"/>
          <p:cNvSpPr/>
          <p:nvPr/>
        </p:nvSpPr>
        <p:spPr>
          <a:xfrm>
            <a:off x="3108960" y="5652720"/>
            <a:ext cx="3519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More users, jobs and federations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17453"/>
          <p:cNvSpPr/>
          <p:nvPr/>
        </p:nvSpPr>
        <p:spPr>
          <a:xfrm>
            <a:off x="6812280" y="5553360"/>
            <a:ext cx="4662000" cy="4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17454"/>
          <p:cNvSpPr/>
          <p:nvPr/>
        </p:nvSpPr>
        <p:spPr>
          <a:xfrm>
            <a:off x="6903720" y="5657040"/>
            <a:ext cx="4479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Async backend + modular services + geospatial indexing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Oval 2" descr="Your startup LOGO"/>
          <p:cNvSpPr/>
          <p:nvPr/>
        </p:nvSpPr>
        <p:spPr>
          <a:xfrm>
            <a:off x="228960" y="228960"/>
            <a:ext cx="1726560" cy="88920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SAHAKARYA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9"/>
          <p:cNvSpPr/>
          <p:nvPr/>
        </p:nvSpPr>
        <p:spPr>
          <a:xfrm>
            <a:off x="0" y="6354720"/>
            <a:ext cx="12190680" cy="50184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IMPACT AND BENEFITS — WHO GAINS?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radeGothic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38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01D40E6-D20F-4146-B78C-51D0DD568A59}" type="slidenum">
              <a:rPr lang="en-US" sz="138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0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8560" cy="10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Box 17409"/>
          <p:cNvSpPr/>
          <p:nvPr/>
        </p:nvSpPr>
        <p:spPr>
          <a:xfrm>
            <a:off x="502920" y="1143000"/>
            <a:ext cx="111542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80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A marketplace designed to keep value, visibility and welfare closer to the people who do the work.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Oval 17410"/>
          <p:cNvSpPr/>
          <p:nvPr/>
        </p:nvSpPr>
        <p:spPr>
          <a:xfrm>
            <a:off x="5148000" y="2743200"/>
            <a:ext cx="1690200" cy="1690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SAHAKARYA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7411"/>
          <p:cNvSpPr/>
          <p:nvPr/>
        </p:nvSpPr>
        <p:spPr>
          <a:xfrm>
            <a:off x="5074920" y="4471560"/>
            <a:ext cx="1845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14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COOPERATIVE-OWNED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4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DIGITAL MARKET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ounded Rectangle 17412"/>
          <p:cNvSpPr/>
          <p:nvPr/>
        </p:nvSpPr>
        <p:spPr>
          <a:xfrm>
            <a:off x="502920" y="1572840"/>
            <a:ext cx="3427560" cy="1845720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 w="15240">
            <a:solidFill>
              <a:srgbClr val="AED8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7413"/>
          <p:cNvSpPr/>
          <p:nvPr/>
        </p:nvSpPr>
        <p:spPr>
          <a:xfrm>
            <a:off x="713160" y="1755720"/>
            <a:ext cx="301608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70" b="1" u="none" strike="noStrike">
                <a:solidFill>
                  <a:srgbClr val="1C7D47"/>
                </a:solidFill>
                <a:effectLst/>
                <a:uFillTx/>
                <a:latin typeface="Arial"/>
                <a:ea typeface="ＭＳ Ｐゴシック"/>
              </a:rPr>
              <a:t>WORKERS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7414"/>
          <p:cNvSpPr/>
          <p:nvPr/>
        </p:nvSpPr>
        <p:spPr>
          <a:xfrm>
            <a:off x="749880" y="217620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95% direct take-home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7415"/>
          <p:cNvSpPr/>
          <p:nvPr/>
        </p:nvSpPr>
        <p:spPr>
          <a:xfrm>
            <a:off x="749880" y="245052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5% collective welfare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7416"/>
          <p:cNvSpPr/>
          <p:nvPr/>
        </p:nvSpPr>
        <p:spPr>
          <a:xfrm>
            <a:off x="749880" y="272484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Digital profile + certification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7417"/>
          <p:cNvSpPr/>
          <p:nvPr/>
        </p:nvSpPr>
        <p:spPr>
          <a:xfrm>
            <a:off x="749880" y="299916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Fair, transparent dispatch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ounded Rectangle 17418"/>
          <p:cNvSpPr/>
          <p:nvPr/>
        </p:nvSpPr>
        <p:spPr>
          <a:xfrm>
            <a:off x="8256960" y="1572840"/>
            <a:ext cx="3427560" cy="184572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17419"/>
          <p:cNvSpPr/>
          <p:nvPr/>
        </p:nvSpPr>
        <p:spPr>
          <a:xfrm>
            <a:off x="8467200" y="1755720"/>
            <a:ext cx="30160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COOPERATIVES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7420"/>
          <p:cNvSpPr/>
          <p:nvPr/>
        </p:nvSpPr>
        <p:spPr>
          <a:xfrm>
            <a:off x="8503920" y="217620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Digital storefront for existing rosters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7421"/>
          <p:cNvSpPr/>
          <p:nvPr/>
        </p:nvSpPr>
        <p:spPr>
          <a:xfrm>
            <a:off x="8503920" y="245052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Demand forecasting &amp; workforce planning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7422"/>
          <p:cNvSpPr/>
          <p:nvPr/>
        </p:nvSpPr>
        <p:spPr>
          <a:xfrm>
            <a:off x="8503920" y="272484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Tariff + policy governance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7423"/>
          <p:cNvSpPr/>
          <p:nvPr/>
        </p:nvSpPr>
        <p:spPr>
          <a:xfrm>
            <a:off x="8503920" y="299916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Auditable welfare ledger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17424"/>
          <p:cNvSpPr/>
          <p:nvPr/>
        </p:nvSpPr>
        <p:spPr>
          <a:xfrm>
            <a:off x="502920" y="4462200"/>
            <a:ext cx="3427560" cy="1708920"/>
          </a:xfrm>
          <a:prstGeom prst="roundRect">
            <a:avLst>
              <a:gd name="adj" fmla="val 16667"/>
            </a:avLst>
          </a:prstGeom>
          <a:solidFill>
            <a:srgbClr val="FFF4E7"/>
          </a:solidFill>
          <a:ln w="15240">
            <a:solidFill>
              <a:srgbClr val="EDD4B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17425"/>
          <p:cNvSpPr/>
          <p:nvPr/>
        </p:nvSpPr>
        <p:spPr>
          <a:xfrm>
            <a:off x="713160" y="4663440"/>
            <a:ext cx="30160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70" b="1" u="none" strike="noStrike">
                <a:solidFill>
                  <a:srgbClr val="E17F21"/>
                </a:solidFill>
                <a:effectLst/>
                <a:uFillTx/>
                <a:latin typeface="Arial"/>
                <a:ea typeface="ＭＳ Ｐゴシック"/>
              </a:rPr>
              <a:t>CUSTOMERS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7426"/>
          <p:cNvSpPr/>
          <p:nvPr/>
        </p:nvSpPr>
        <p:spPr>
          <a:xfrm>
            <a:off x="731880" y="501588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Verified cooperative workers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7427"/>
          <p:cNvSpPr/>
          <p:nvPr/>
        </p:nvSpPr>
        <p:spPr>
          <a:xfrm>
            <a:off x="731880" y="525384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Fixed federation tariffs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17428"/>
          <p:cNvSpPr/>
          <p:nvPr/>
        </p:nvSpPr>
        <p:spPr>
          <a:xfrm>
            <a:off x="731880" y="549144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Live ETA + tracking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7429"/>
          <p:cNvSpPr/>
          <p:nvPr/>
        </p:nvSpPr>
        <p:spPr>
          <a:xfrm>
            <a:off x="731880" y="572940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Ratings &amp; transparent billing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17430"/>
          <p:cNvSpPr/>
          <p:nvPr/>
        </p:nvSpPr>
        <p:spPr>
          <a:xfrm>
            <a:off x="8256960" y="4462200"/>
            <a:ext cx="3427560" cy="1708920"/>
          </a:xfrm>
          <a:prstGeom prst="roundRect">
            <a:avLst>
              <a:gd name="adj" fmla="val 16667"/>
            </a:avLst>
          </a:prstGeom>
          <a:solidFill>
            <a:srgbClr val="EFEFF7"/>
          </a:solidFill>
          <a:ln w="15240">
            <a:solidFill>
              <a:srgbClr val="DAD7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17431"/>
          <p:cNvSpPr/>
          <p:nvPr/>
        </p:nvSpPr>
        <p:spPr>
          <a:xfrm>
            <a:off x="8467200" y="4663440"/>
            <a:ext cx="30160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70" b="1" u="none" strike="noStrike">
                <a:solidFill>
                  <a:srgbClr val="664F8E"/>
                </a:solidFill>
                <a:effectLst/>
                <a:uFillTx/>
                <a:latin typeface="Arial"/>
                <a:ea typeface="ＭＳ Ｐゴシック"/>
              </a:rPr>
              <a:t>SYSTEM-LEVEL VALUE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7432"/>
          <p:cNvSpPr/>
          <p:nvPr/>
        </p:nvSpPr>
        <p:spPr>
          <a:xfrm>
            <a:off x="8503920" y="501588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Higher value retention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7433"/>
          <p:cNvSpPr/>
          <p:nvPr/>
        </p:nvSpPr>
        <p:spPr>
          <a:xfrm>
            <a:off x="8503920" y="525384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Worker welfare built into flow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7434"/>
          <p:cNvSpPr/>
          <p:nvPr/>
        </p:nvSpPr>
        <p:spPr>
          <a:xfrm>
            <a:off x="8503920" y="549144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Digital inclusion of labour co-ops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7435"/>
          <p:cNvSpPr/>
          <p:nvPr/>
        </p:nvSpPr>
        <p:spPr>
          <a:xfrm>
            <a:off x="8503920" y="5729400"/>
            <a:ext cx="29246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• Smart automation over surge pricing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8" name="Connector 17436"/>
          <p:cNvCxnSpPr/>
          <p:nvPr/>
        </p:nvCxnSpPr>
        <p:spPr>
          <a:xfrm>
            <a:off x="3931920" y="2468880"/>
            <a:ext cx="1144440" cy="687240"/>
          </a:xfrm>
          <a:prstGeom prst="straightConnector1">
            <a:avLst/>
          </a:prstGeom>
          <a:ln w="0">
            <a:solidFill>
              <a:srgbClr val="1C7D47"/>
            </a:solidFill>
          </a:ln>
        </p:spPr>
      </p:cxnSp>
      <p:cxnSp>
        <p:nvCxnSpPr>
          <p:cNvPr id="269" name="Connector 17437"/>
          <p:cNvCxnSpPr/>
          <p:nvPr/>
        </p:nvCxnSpPr>
        <p:spPr>
          <a:xfrm flipH="1">
            <a:off x="6931080" y="2468880"/>
            <a:ext cx="1327320" cy="687240"/>
          </a:xfrm>
          <a:prstGeom prst="straightConnector1">
            <a:avLst/>
          </a:prstGeom>
          <a:ln w="0">
            <a:solidFill>
              <a:srgbClr val="1F4E79"/>
            </a:solidFill>
          </a:ln>
        </p:spPr>
      </p:cxnSp>
      <p:cxnSp>
        <p:nvCxnSpPr>
          <p:cNvPr id="270" name="Connector 17438"/>
          <p:cNvCxnSpPr/>
          <p:nvPr/>
        </p:nvCxnSpPr>
        <p:spPr>
          <a:xfrm flipV="1">
            <a:off x="3931920" y="4087080"/>
            <a:ext cx="1144440" cy="897840"/>
          </a:xfrm>
          <a:prstGeom prst="straightConnector1">
            <a:avLst/>
          </a:prstGeom>
          <a:ln w="0">
            <a:solidFill>
              <a:srgbClr val="E17F21"/>
            </a:solidFill>
          </a:ln>
        </p:spPr>
      </p:cxnSp>
      <p:cxnSp>
        <p:nvCxnSpPr>
          <p:cNvPr id="271" name="Connector 17439"/>
          <p:cNvCxnSpPr/>
          <p:nvPr/>
        </p:nvCxnSpPr>
        <p:spPr>
          <a:xfrm flipH="1" flipV="1">
            <a:off x="6931080" y="4087080"/>
            <a:ext cx="1327320" cy="897840"/>
          </a:xfrm>
          <a:prstGeom prst="straightConnector1">
            <a:avLst/>
          </a:prstGeom>
          <a:ln w="0">
            <a:solidFill>
              <a:srgbClr val="664F8E"/>
            </a:solidFill>
          </a:ln>
        </p:spPr>
      </p:cxnSp>
      <p:sp>
        <p:nvSpPr>
          <p:cNvPr id="272" name="Rounded Rectangle 17440"/>
          <p:cNvSpPr/>
          <p:nvPr/>
        </p:nvSpPr>
        <p:spPr>
          <a:xfrm>
            <a:off x="4114800" y="5486400"/>
            <a:ext cx="4040280" cy="45612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524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17441"/>
          <p:cNvSpPr/>
          <p:nvPr/>
        </p:nvSpPr>
        <p:spPr>
          <a:xfrm>
            <a:off x="3931560" y="5603760"/>
            <a:ext cx="42595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ctr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DIGITISE THE COOPERATIVE — NOT THE MIDDLEMAN.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Oval 3" descr="Your startup LOGO"/>
          <p:cNvSpPr/>
          <p:nvPr/>
        </p:nvSpPr>
        <p:spPr>
          <a:xfrm>
            <a:off x="228960" y="228960"/>
            <a:ext cx="1726560" cy="88920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SAHAKARYA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9"/>
          <p:cNvSpPr/>
          <p:nvPr/>
        </p:nvSpPr>
        <p:spPr>
          <a:xfrm>
            <a:off x="0" y="6354720"/>
            <a:ext cx="12190680" cy="50184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1360" cy="1141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RESEARCH AND REFERENCES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radeGothic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3280" cy="363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38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44E890E-CCA5-438C-A053-7A6F237D16F3}" type="slidenum">
              <a:rPr lang="en-US" sz="138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8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8560" cy="106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Box 17409"/>
          <p:cNvSpPr/>
          <p:nvPr/>
        </p:nvSpPr>
        <p:spPr>
          <a:xfrm>
            <a:off x="502920" y="1170360"/>
            <a:ext cx="80910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EXTERNAL RESEARCH BASIS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Oval 17410"/>
          <p:cNvSpPr/>
          <p:nvPr/>
        </p:nvSpPr>
        <p:spPr>
          <a:xfrm>
            <a:off x="548640" y="1600200"/>
            <a:ext cx="382680" cy="3826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7411"/>
          <p:cNvSpPr/>
          <p:nvPr/>
        </p:nvSpPr>
        <p:spPr>
          <a:xfrm>
            <a:off x="1024200" y="1554480"/>
            <a:ext cx="72954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8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ILO — Platform Workers in India &amp; EBMOs (2024)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7412"/>
          <p:cNvSpPr/>
          <p:nvPr/>
        </p:nvSpPr>
        <p:spPr>
          <a:xfrm>
            <a:off x="1024200" y="1810440"/>
            <a:ext cx="729540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3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Reports 25–30% commissions among interviewed platform workers and documents worker concerns around bargaining / platform conditions.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7413"/>
          <p:cNvSpPr/>
          <p:nvPr/>
        </p:nvSpPr>
        <p:spPr>
          <a:xfrm>
            <a:off x="7644240" y="2194560"/>
            <a:ext cx="638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ilo.org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Oval 17414"/>
          <p:cNvSpPr/>
          <p:nvPr/>
        </p:nvSpPr>
        <p:spPr>
          <a:xfrm>
            <a:off x="548640" y="2560320"/>
            <a:ext cx="382680" cy="3826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7415"/>
          <p:cNvSpPr/>
          <p:nvPr/>
        </p:nvSpPr>
        <p:spPr>
          <a:xfrm>
            <a:off x="1024200" y="2514600"/>
            <a:ext cx="72954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8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ILO / ISSA / OECD — Social Protection in the Gig Economy (2023)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7416"/>
          <p:cNvSpPr/>
          <p:nvPr/>
        </p:nvSpPr>
        <p:spPr>
          <a:xfrm>
            <a:off x="1024200" y="2770560"/>
            <a:ext cx="729540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3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Reviews gaps and country lessons for extending adequate and sustainable social protection to platform workers.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7417"/>
          <p:cNvSpPr/>
          <p:nvPr/>
        </p:nvSpPr>
        <p:spPr>
          <a:xfrm>
            <a:off x="7644240" y="3154680"/>
            <a:ext cx="638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ilo.org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Oval 17418"/>
          <p:cNvSpPr/>
          <p:nvPr/>
        </p:nvSpPr>
        <p:spPr>
          <a:xfrm>
            <a:off x="548640" y="3520440"/>
            <a:ext cx="382680" cy="3826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7419"/>
          <p:cNvSpPr/>
          <p:nvPr/>
        </p:nvSpPr>
        <p:spPr>
          <a:xfrm>
            <a:off x="1024200" y="3474720"/>
            <a:ext cx="72954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4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NCDC — Compendium / Labour Cooperatives (2024)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7420"/>
          <p:cNvSpPr/>
          <p:nvPr/>
        </p:nvSpPr>
        <p:spPr>
          <a:xfrm>
            <a:off x="1024200" y="3730680"/>
            <a:ext cx="729540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3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Recognises labour cooperatives within the non-farm cooperative development landscape and income-generating activities.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17421"/>
          <p:cNvSpPr/>
          <p:nvPr/>
        </p:nvSpPr>
        <p:spPr>
          <a:xfrm>
            <a:off x="7644240" y="4114800"/>
            <a:ext cx="638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ncdc.in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Oval 17422"/>
          <p:cNvSpPr/>
          <p:nvPr/>
        </p:nvSpPr>
        <p:spPr>
          <a:xfrm>
            <a:off x="548640" y="4480560"/>
            <a:ext cx="382680" cy="3826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7423"/>
          <p:cNvSpPr/>
          <p:nvPr/>
        </p:nvSpPr>
        <p:spPr>
          <a:xfrm>
            <a:off x="1024200" y="4434840"/>
            <a:ext cx="72954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4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ILO — Digital Labour Platforms: Number of Platforms and Workers (2026)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7424"/>
          <p:cNvSpPr/>
          <p:nvPr/>
        </p:nvSpPr>
        <p:spPr>
          <a:xfrm>
            <a:off x="1024200" y="4690800"/>
            <a:ext cx="729540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39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Documents the continued growth of digital labour platforms and the need for better measurement and policy evidence.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7425"/>
          <p:cNvSpPr/>
          <p:nvPr/>
        </p:nvSpPr>
        <p:spPr>
          <a:xfrm>
            <a:off x="7644240" y="5074920"/>
            <a:ext cx="6386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ilo.org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17426"/>
          <p:cNvSpPr/>
          <p:nvPr/>
        </p:nvSpPr>
        <p:spPr>
          <a:xfrm>
            <a:off x="8851320" y="1408320"/>
            <a:ext cx="2696040" cy="4332960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 w="15240">
            <a:solidFill>
              <a:srgbClr val="E8EF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9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17427"/>
          <p:cNvSpPr/>
          <p:nvPr/>
        </p:nvSpPr>
        <p:spPr>
          <a:xfrm>
            <a:off x="9052560" y="1664280"/>
            <a:ext cx="22845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7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PROJECT HUB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7429"/>
          <p:cNvSpPr/>
          <p:nvPr/>
        </p:nvSpPr>
        <p:spPr>
          <a:xfrm>
            <a:off x="9144000" y="4069080"/>
            <a:ext cx="228492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B2A38"/>
                </a:solidFill>
                <a:effectLst/>
                <a:uFillTx/>
                <a:latin typeface="Arial"/>
                <a:ea typeface="ＭＳ Ｐゴシック"/>
              </a:rPr>
              <a:t>SOURCE CODE +  PROJECT ASSETS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7430"/>
          <p:cNvSpPr/>
          <p:nvPr/>
        </p:nvSpPr>
        <p:spPr>
          <a:xfrm>
            <a:off x="9070920" y="4617720"/>
            <a:ext cx="22478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80" b="0" u="sng" strike="noStrike">
                <a:solidFill>
                  <a:srgbClr val="0000FF"/>
                </a:solidFill>
                <a:effectLst/>
                <a:uFillTx/>
                <a:latin typeface="Arial"/>
                <a:ea typeface="ＭＳ Ｐゴシック"/>
                <a:hlinkClick r:id="rId2"/>
              </a:rPr>
              <a:t>github.com/Sahakaryaa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17431"/>
          <p:cNvSpPr/>
          <p:nvPr/>
        </p:nvSpPr>
        <p:spPr>
          <a:xfrm>
            <a:off x="9052560" y="5166360"/>
            <a:ext cx="2266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Backend • ML • Customer App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Worker App • Admin Dashboard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7432"/>
          <p:cNvSpPr/>
          <p:nvPr/>
        </p:nvSpPr>
        <p:spPr>
          <a:xfrm>
            <a:off x="548640" y="5422320"/>
            <a:ext cx="79538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27360" rIns="27360" bIns="2736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Sources: ILO / NCDC public reports • Full project repositories are available via the Project Hub QR.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66774"/>
                </a:solidFill>
                <a:effectLst/>
                <a:uFillTx/>
                <a:latin typeface="Arial"/>
                <a:ea typeface="ＭＳ Ｐゴシック"/>
              </a:rPr>
              <a:t>Research sources are used to support the problem context; SahaKarya-specific metrics are prototype/model results.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Oval 4" descr="Your startup LOGO"/>
          <p:cNvSpPr/>
          <p:nvPr/>
        </p:nvSpPr>
        <p:spPr>
          <a:xfrm>
            <a:off x="228960" y="228960"/>
            <a:ext cx="1726560" cy="88920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F4E79"/>
                </a:solidFill>
                <a:effectLst/>
                <a:uFillTx/>
                <a:latin typeface="Arial"/>
                <a:ea typeface="ＭＳ Ｐゴシック"/>
              </a:rPr>
              <a:t>SAHAKARYA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3" name="Picture 17428" descr="sahakarya_project_hub_qr.png"/>
          <p:cNvPicPr/>
          <p:nvPr/>
        </p:nvPicPr>
        <p:blipFill>
          <a:blip r:embed="rId3"/>
          <a:stretch/>
        </p:blipFill>
        <p:spPr>
          <a:xfrm>
            <a:off x="9262800" y="2057400"/>
            <a:ext cx="1863720" cy="186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7524</TotalTime>
  <Application>LibreOffice/26.2.5.2$Linux_X86_64 LibreOffice_project/620$Build-2</Application>
  <AppVersion>15.0000</AppVersion>
  <Words>325</Words>
  <Paragraphs>62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SahaKarya</dc:creator>
  <dc:description/>
  <cp:keywords>SIH 2026 SahaKarya cooperative labour marketplace Flutter React FastAPI MongoDB ML</cp:keywords>
  <dc:language>en-US</dc:language>
  <cp:lastModifiedBy/>
  <dcterms:modified xsi:type="dcterms:W3CDTF">2026-09-01T04:36:13Z</dcterms:modified>
  <cp:revision>154</cp:revision>
  <dc:subject>SIH26089 | Cooperative-Owned Digital Marketplace for Labour Cooperative Federations</dc:subject>
  <dc:title>SahaKarya — Smart India Hackathon 2026 Idea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