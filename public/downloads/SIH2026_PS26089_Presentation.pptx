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4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SMART INDIA HACKATHON 2026 GRAND FINALE  •  PS ID: SIH26089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SahaKarya (सहकार्य)</a:t>
            </a:r>
          </a:p>
          <a:p>
            <a:pPr>
              <a:spcAft>
                <a:spcPts val="1600"/>
              </a:spcAft>
              <a:defRPr sz="2400" b="1">
                <a:solidFill>
                  <a:srgbClr val="137A54"/>
                </a:solidFill>
                <a:latin typeface="Arial"/>
              </a:defRPr>
            </a:pPr>
            <a:r>
              <a:t>Labour Cooperative Federation Digital Services Platform</a:t>
            </a:r>
          </a:p>
          <a:p>
            <a:pPr>
              <a:defRPr sz="1500">
                <a:solidFill>
                  <a:srgbClr val="CBD5E1"/>
                </a:solidFill>
                <a:latin typeface="Arial"/>
              </a:defRPr>
            </a:pPr>
            <a:r>
              <a:t>A cooperative-owned digital marketplace connecting verified tradespeople to households — replacing 20-30% private commissions with a transparent 5% non-extractable collective welfare fund.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468880" cy="1280160"/>
          </a:xfrm>
          <a:prstGeom prst="roundRect">
            <a:avLst/>
          </a:prstGeom>
          <a:solidFill>
            <a:srgbClr val="0F2319"/>
          </a:solidFill>
          <a:ln w="19050">
            <a:solidFill>
              <a:srgbClr val="1E4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89204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0% Extractive Cut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vs 28% Private Monopolies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4754880"/>
            <a:ext cx="2468880" cy="1280160"/>
          </a:xfrm>
          <a:prstGeom prst="roundRect">
            <a:avLst/>
          </a:prstGeom>
          <a:solidFill>
            <a:srgbClr val="0F2319"/>
          </a:solidFill>
          <a:ln w="19050">
            <a:solidFill>
              <a:srgbClr val="1E4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489204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F59E0B"/>
                </a:solidFill>
                <a:latin typeface="Arial"/>
              </a:defRPr>
            </a:pPr>
            <a:r>
              <a:t>5% Locked Welfare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Health, Tools &amp; Family Fund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754880"/>
            <a:ext cx="2468880" cy="1280160"/>
          </a:xfrm>
          <a:prstGeom prst="roundRect">
            <a:avLst/>
          </a:prstGeom>
          <a:solidFill>
            <a:srgbClr val="0F2319"/>
          </a:solidFill>
          <a:ln w="19050">
            <a:solidFill>
              <a:srgbClr val="1E4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489204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100% Vetted Roster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NCCT / Federation Verified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4754880"/>
            <a:ext cx="2468880" cy="1280160"/>
          </a:xfrm>
          <a:prstGeom prst="roundRect">
            <a:avLst/>
          </a:prstGeom>
          <a:solidFill>
            <a:srgbClr val="0F2319"/>
          </a:solidFill>
          <a:ln w="19050">
            <a:solidFill>
              <a:srgbClr val="1E4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489204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 Demand ML</a:t>
            </a:r>
          </a:p>
          <a:p>
            <a:pPr>
              <a:defRPr sz="1150">
                <a:solidFill>
                  <a:srgbClr val="94A3B8"/>
                </a:solidFill>
                <a:latin typeface="Arial"/>
              </a:defRPr>
            </a:pPr>
            <a:r>
              <a:t>R² = 0.958 7-Day Forecast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PROBLEM CONTEXT &amp; INDUSTRY REALITY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SIH26089: Why Private Gig Platforms Fail Workers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1. Aggressive 20–30% Commission Extraction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Private gig aggregators (Urban Company, TaskRabbit models) extract heavy 20–30% cuts per transaction, reducing worker take-home income and penalizing manual craftsmanship.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474720" cy="109728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2. Invisible Labour Cooperative Federations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Labour Cooperative Federations across Indian states have millions of vetted, skilled tradespeople (electricians, plumbers, carpenters) but lack a modern digital storefront to capture urban demand.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0" y="1645920"/>
            <a:ext cx="3474720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3. Zero Institutional Social Security &amp; Benefits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Gig workers are classified as 'independent contractors', leaving them with zero accident coverage, health buffers, tool upgrade loans, or transparent collective safety nets.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PRODUCT ARCHITECTURE OVERVIEW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3 Integrated SahaKarya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828800"/>
            <a:ext cx="301752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37A54"/>
                </a:solidFill>
                <a:latin typeface="Arial"/>
              </a:defRPr>
            </a:pPr>
            <a:r>
              <a:t>Customer Mobile App (Flutter)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Instant Trade Discovery &amp; SOS Emergency Mode</a:t>
            </a:r>
            <a:br/>
            <a:r>
              <a:t>• Real-Time CartoDB Voyager Live Tracking</a:t>
            </a:r>
            <a:br/>
            <a:r>
              <a:t>• Fixed Federation Tariffs (Zero Surge Pricing)</a:t>
            </a:r>
            <a:br/>
            <a:r>
              <a:t>• In-Trip Encrypted Chat &amp; Calling</a:t>
            </a:r>
            <a:br/>
            <a:r>
              <a:t>• Transparent Billing &amp; Direct Peer Rating</a:t>
            </a:r>
          </a:p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Package: com.sahakarya.customer_app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017520" cy="41148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D97706"/>
                </a:solidFill>
                <a:latin typeface="Arial"/>
              </a:defRPr>
            </a:pPr>
            <a:r>
              <a:t>Partner Mobile App (Flutter)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Online / Offline GPS Availability Radar</a:t>
            </a:r>
            <a:br/>
            <a:r>
              <a:t>• 45s Countdown Gig Offer Dispatch Sheet</a:t>
            </a:r>
            <a:br/>
            <a:r>
              <a:t>• 95% Instant Worker Take-Home Settlement</a:t>
            </a:r>
            <a:br/>
            <a:r>
              <a:t>• 5% Non-Extractable Welfare Claims Portal</a:t>
            </a:r>
            <a:br/>
            <a:r>
              <a:t>• Multilingual Trade Profile &amp; Certification</a:t>
            </a:r>
          </a:p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Package: com.sahakarya.worker_app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83880" y="1828800"/>
            <a:ext cx="301752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87451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37A54"/>
                </a:solidFill>
                <a:latin typeface="Arial"/>
              </a:defRPr>
            </a:pPr>
            <a:r>
              <a:t>Federation Control Center (React)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7744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Verified Worker Roster Management</a:t>
            </a:r>
            <a:br/>
            <a:r>
              <a:t>• Live Real-Time In-Flight Dispatch Monitor</a:t>
            </a:r>
            <a:br/>
            <a:r>
              <a:t>• Immutable 5% Welfare Fund Audit Ledger</a:t>
            </a:r>
            <a:br/>
            <a:r>
              <a:t>• AI Demand Forecasting &amp; Capacity Allocation</a:t>
            </a:r>
            <a:br/>
            <a:r>
              <a:t>• Regional Policy Governance Configuration</a:t>
            </a:r>
          </a:p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Web: React 18 + Vite +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COOPERATIVE ECONOMIC MODEL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How the 5% Non-Extractable Welfare Fund Operates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37A54"/>
                </a:solidFill>
                <a:latin typeface="Arial"/>
              </a:defRPr>
            </a:pPr>
            <a:r>
              <a:t>Transparent Transaction Settlement Example</a:t>
            </a:r>
          </a:p>
          <a:p>
            <a:pPr>
              <a:defRPr sz="1400">
                <a:solidFill>
                  <a:srgbClr val="334155"/>
                </a:solidFill>
                <a:latin typeface="Arial"/>
              </a:defRPr>
            </a:pPr>
            <a:r>
              <a:t>For a standard ₹500 Electrician Service Booking:</a:t>
            </a:r>
            <a:br/>
            <a:br/>
            <a:r>
              <a:t>• ₹475.00 (95%) → Paid instantly &amp; directly to the Partner</a:t>
            </a:r>
            <a:br/>
            <a:r>
              <a:t>• ₹25.00 (5%)   → Transferred to Federation Welfare Fund</a:t>
            </a:r>
            <a:br/>
            <a:r>
              <a:t>• ₹0.00 (0%)    → Zero platform extraction cut</a:t>
            </a:r>
            <a:br/>
            <a:br/>
            <a:r>
              <a:t>Key Governance Guarantee:</a:t>
            </a:r>
            <a:br/>
            <a:r>
              <a:t>The 5% welfare pool is legally ring-fenced. It can never be appropriated as corporate platform revenue and is controlled solely by federation council bylaws.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Arial"/>
              </a:defRPr>
            </a:pPr>
            <a:r>
              <a:t>Federation Member Welfare Benefits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1. Emergency Healthcare Coverage</a:t>
            </a:r>
            <a:br/>
            <a:r>
              <a:t>Direct medical assistance for on-the-job accidents and health emergencies.</a:t>
            </a:r>
            <a:br/>
            <a:br/>
            <a:r>
              <a:t>2. Tool &amp; Equipment Upgrades</a:t>
            </a:r>
            <a:br/>
            <a:r>
              <a:t>Zero-interest micro-grants for specialized trade tool replacement and testing kits.</a:t>
            </a:r>
            <a:br/>
            <a:br/>
            <a:r>
              <a:t>3. Skill Upgrading &amp; NCCT Certification</a:t>
            </a:r>
            <a:br/>
            <a:r>
              <a:t>Subsidized training programs through National Council for Cooperative Training.</a:t>
            </a:r>
            <a:br/>
            <a:br/>
            <a:r>
              <a:t>4. One-Tap Mobile Claims Submission</a:t>
            </a:r>
            <a:br/>
            <a:r>
              <a:t>Instant claim lodging directly inside the SahaKarya Partner mobile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SYSTEM DESIGN &amp; INFRASTRUCTURE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Multi-Tier High-Speed Full-Stack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Mobile Client Tier</a:t>
            </a:r>
          </a:p>
          <a:p>
            <a:pPr>
              <a:spcAft>
                <a:spcPts val="1000"/>
              </a:spcAft>
              <a:defRPr sz="1200" b="1">
                <a:solidFill>
                  <a:srgbClr val="137A54"/>
                </a:solidFill>
                <a:latin typeface="Arial"/>
              </a:defRPr>
            </a:pPr>
            <a:r>
              <a:t>Flutter 3.x Native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Customer App (com.sahakarya.customer_app)</a:t>
            </a:r>
            <a:br/>
            <a:r>
              <a:t>• Partner App (com.sahakarya.worker_app)</a:t>
            </a:r>
            <a:br/>
            <a:r>
              <a:t>• CartoDB Voyager OpenStreetMap (0 API Cost)</a:t>
            </a:r>
            <a:br/>
            <a:r>
              <a:t>• Riverpod State Machines &amp; GoRouter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645920"/>
            <a:ext cx="256032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Real-Time Gateway Tier</a:t>
            </a:r>
          </a:p>
          <a:p>
            <a:pPr>
              <a:spcAft>
                <a:spcPts val="1000"/>
              </a:spcAft>
              <a:defRPr sz="1200" b="1">
                <a:solidFill>
                  <a:srgbClr val="137A54"/>
                </a:solidFill>
                <a:latin typeface="Arial"/>
              </a:defRPr>
            </a:pPr>
            <a:r>
              <a:t>FastAPI + ASGI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Python 3.11 High-Throughput Async Engine</a:t>
            </a:r>
            <a:br/>
            <a:r>
              <a:t>• Python-SocketIO Duplex Event Hub</a:t>
            </a:r>
            <a:br/>
            <a:r>
              <a:t>• Fair Match Scoring (Distance, Rating, Skills)</a:t>
            </a:r>
            <a:br/>
            <a:r>
              <a:t>• JWT Authentication &amp; Role 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256032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Database &amp; Geo Tier</a:t>
            </a:r>
          </a:p>
          <a:p>
            <a:pPr>
              <a:spcAft>
                <a:spcPts val="1000"/>
              </a:spcAft>
              <a:defRPr sz="1200" b="1">
                <a:solidFill>
                  <a:srgbClr val="137A54"/>
                </a:solidFill>
                <a:latin typeface="Arial"/>
              </a:defRPr>
            </a:pPr>
            <a:r>
              <a:t>MongoDB + 2dsphere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Native MongoDB 2dsphere Indexing (&lt;10ms)</a:t>
            </a:r>
            <a:br/>
            <a:r>
              <a:t>• Beanie Async ODM with Pydantic v2</a:t>
            </a:r>
            <a:br/>
            <a:r>
              <a:t>• ACID Transactional Welfare Audit Ledger</a:t>
            </a:r>
            <a:br/>
            <a:r>
              <a:t>• Idempotent Seed Scripts &amp; GeoJSON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603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645920"/>
            <a:ext cx="2560320" cy="73152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AI Forecasting Engine</a:t>
            </a:r>
          </a:p>
          <a:p>
            <a:pPr>
              <a:spcAft>
                <a:spcPts val="1000"/>
              </a:spcAft>
              <a:defRPr sz="1200" b="1">
                <a:solidFill>
                  <a:srgbClr val="137A54"/>
                </a:solidFill>
                <a:latin typeface="Arial"/>
              </a:defRPr>
            </a:pPr>
            <a:r>
              <a:t>Scikit-Learn ML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GradientBoostingRegressor (R² = 0.958)</a:t>
            </a:r>
            <a:br/>
            <a:r>
              <a:t>• Multi-Seasonal Indian Festival Multipliers</a:t>
            </a:r>
            <a:br/>
            <a:r>
              <a:t>• 7-Day Forward Regional Demand Prediction</a:t>
            </a:r>
            <a:br/>
            <a:r>
              <a:t>• Sub-5ms Embedded Inference Latency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AI &amp; SMART AUTOMATION (PS26089)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AI-Powered Regional Demand Forecasting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37A54"/>
                </a:solidFill>
                <a:latin typeface="Arial"/>
              </a:defRPr>
            </a:pPr>
            <a:r>
              <a:t>Gradient Boosting Regressor Model Specs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• Model Architecture: Scikit-Learn GradientBoostingRegressor</a:t>
            </a:r>
            <a:br/>
            <a:r>
              <a:t>• Accuracy Coefficient: R² = 0.958 (95.8% variance explained)</a:t>
            </a:r>
            <a:br/>
            <a:r>
              <a:t>• Mean Absolute Error: MAE = 1.10 bookings / day</a:t>
            </a:r>
            <a:br/>
            <a:r>
              <a:t>• Training Data: 3,000+ synthetic multi-year seasonal records</a:t>
            </a:r>
            <a:br/>
            <a:r>
              <a:t>• Feature Factors:</a:t>
            </a:r>
            <a:br/>
            <a:r>
              <a:t>   - Day of week &amp; sine-cosine cyclic encoding</a:t>
            </a:r>
            <a:br/>
            <a:r>
              <a:t>   - 7-day rolling moving averages &amp; trend momentum</a:t>
            </a:r>
            <a:br/>
            <a:r>
              <a:t>   - Indian Festival Multipliers (Diwali +3.2x, Holi +2.1x)</a:t>
            </a:r>
            <a:br/>
            <a:r>
              <a:t>   - Weather factors &amp; heatwave surge scaling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Arial"/>
              </a:defRPr>
            </a:pPr>
            <a:r>
              <a:t>Smart Federation Capacity Allocation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1. Proactive Worker Shift Planning</a:t>
            </a:r>
            <a:br/>
            <a:r>
              <a:t>Federations know 7 days in advance which regions (e.g. North Delhi vs South Bengaluru) will face electrician shortages.</a:t>
            </a:r>
            <a:br/>
            <a:br/>
            <a:r>
              <a:t>2. Eliminates Algorithmic Surge Pricing</a:t>
            </a:r>
            <a:br/>
            <a:r>
              <a:t>Instead of gouging customers during peak rains or festivals, the cooperative mobilizes available reserve members.</a:t>
            </a:r>
            <a:br/>
            <a:br/>
            <a:r>
              <a:t>3. Zero Cloud API Costs</a:t>
            </a:r>
            <a:br/>
            <a:r>
              <a:t>Self-contained serialized model artifact (forecast_model.pkl) loaded directly in FastAPI with sub-5ms inference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END-TO-END OPERATIONAL LIFECYCLE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5-Stage Real-World Service Execution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783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Step 1: Booking Creation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Customer selects trade (e.g. Electrician), enters location, reviews fixed tariff (₹450), and taps 'Book Now'.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645920"/>
            <a:ext cx="2057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0672" y="1828800"/>
            <a:ext cx="457200" cy="457200"/>
          </a:xfrm>
          <a:prstGeom prst="ellipse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0672" y="19019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68880"/>
            <a:ext cx="1783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Step 2: Fair Match Dispatch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Platform matches nearest certified worker. Worker gets 45s offer sheet with earnings breakdown and accepts.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1645920"/>
            <a:ext cx="2057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66944" y="1828800"/>
            <a:ext cx="457200" cy="457200"/>
          </a:xfrm>
          <a:prstGeom prst="ellipse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9019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2468880"/>
            <a:ext cx="1783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Step 3: Live Tracking &amp; Work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Customer tracks worker live via CartoDB Voyager maps with ETA. In-trip encrypted chat &amp; arrival confirmation.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45920"/>
            <a:ext cx="2057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43216" y="1828800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19019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2468880"/>
            <a:ext cx="1783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Step 4: Invoice &amp; 5% Welfare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Worker finishes job. Customer reviews final bill &amp; settles via UPI. ₹427.50 to partner + ₹22.50 to welfare fund.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1645920"/>
            <a:ext cx="2057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19488" y="1828800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19019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3767" y="2468880"/>
            <a:ext cx="1783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Arial"/>
              </a:defRPr>
            </a:pPr>
            <a:r>
              <a:t>Step 5: Rating &amp; Feedback</a:t>
            </a:r>
          </a:p>
          <a:p>
            <a:pPr>
              <a:defRPr sz="1200">
                <a:solidFill>
                  <a:srgbClr val="334155"/>
                </a:solidFill>
                <a:latin typeface="Arial"/>
              </a:defRPr>
            </a:pPr>
            <a:r>
              <a:t>Customer rates 5★ with trade praise tags ('Punctual', 'Skilled') + optional tip. Summary saved to history.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STRATEGIC &amp; MARKET DIFFERENTIATION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SahaKarya vs Private Gig Monopolies vs Offline Agents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37A54"/>
                </a:solidFill>
                <a:latin typeface="Arial"/>
              </a:defRPr>
            </a:pPr>
            <a:r>
              <a:t>Feature / Metric                           SahaKarya (Cooperative)             Private Monopolies (Urban Co)          Unorganized Offline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Platform Commission            0% Cut (5% Locked Welfare)             20% – 30% Extracted                  0% (No Digital Platform)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Worker Social Security         Guaranteed Collective Fund             None (Contractor Status)             None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Supply Acquisition (CAC)       Zero CAC (Bulk Roster Onboarding)      Heavy CAC per Worker                 Informal &amp; Local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Pricing Transparency           Fixed Federation Tariffs               Dynamic Surge Multipliers            Arbitrary Bargaining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Institutional Governance       Labour Federation Council              Unilateral Algorithm                 Informal Agents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AI Demand Forecasting          7-Day Gradient Boosting ML             Proprietary Blackbox                 None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Arial"/>
              </a:defRPr>
            </a:pPr>
            <a:r>
              <a:t>Worker Data Dignity            Zero Tracking When Offline             Constant Surveillance                None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TECHNICAL FEASIBILITY &amp; IMPLEMENTATION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Production Verification &amp; Open-Source Zero-Cost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37A54"/>
                </a:solidFill>
                <a:latin typeface="Arial"/>
              </a:defRPr>
            </a:pPr>
            <a:r>
              <a:t>Physical Device Hardware Verification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• Target Physical Hardware: Motorola Edge 50 Pro (ZD222NB59D)</a:t>
            </a:r>
            <a:br/>
            <a:r>
              <a:t>• OS Version: Android 16 (API 36)</a:t>
            </a:r>
            <a:br/>
            <a:r>
              <a:t>• Verified Packages Installed:</a:t>
            </a:r>
            <a:br/>
            <a:r>
              <a:t>   - Customer App: com.sahakarya.customer_app</a:t>
            </a:r>
            <a:br/>
            <a:r>
              <a:t>   - Worker App: com.sahakarya.worker_app</a:t>
            </a:r>
            <a:br/>
            <a:r>
              <a:t>• Test Results:</a:t>
            </a:r>
            <a:br/>
            <a:r>
              <a:t>   - Flutter static analysis: 0 errors across both apps</a:t>
            </a:r>
            <a:br/>
            <a:r>
              <a:t>   - Automated unit test suite: 100% pass</a:t>
            </a:r>
            <a:br/>
            <a:r>
              <a:t>   - Backend pytest suite: 7/7 passing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Arial"/>
              </a:defRPr>
            </a:pPr>
            <a:r>
              <a:t>Zero-Cost Infrastructure Stack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• Mapping: 100% CartoDB Voyager Raster Tiles on OpenStreetMap</a:t>
            </a:r>
            <a:br/>
            <a:r>
              <a:t>   → Eliminates Google Maps API billings ($0 recurring)</a:t>
            </a:r>
            <a:br/>
            <a:br/>
            <a:r>
              <a:t>• Real-Time Dispatch: ASGI Native WebSockets / Socket.IO</a:t>
            </a:r>
            <a:br/>
            <a:r>
              <a:t>   → Eliminates paid third-party PubSub services</a:t>
            </a:r>
            <a:br/>
            <a:br/>
            <a:r>
              <a:t>• Geospatial Indexing: MongoDB 2dsphere native</a:t>
            </a:r>
            <a:br/>
            <a:r>
              <a:t>   → Runs seamlessly on free-tier Atlas / Community clusters</a:t>
            </a:r>
            <a:br/>
            <a:br/>
            <a:r>
              <a:t>• Self-Contained AI: Local Scikit-Learn Model (.pkl)</a:t>
            </a:r>
            <a:br/>
            <a:r>
              <a:t>   → Sub-5ms inference with 0 cloud LLM token costs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EXPANSION &amp; NATIONAL ROADMAP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Phased National Rollout Strategy for NCCT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1325880"/>
          </a:xfrm>
          <a:prstGeom prst="rect">
            <a:avLst/>
          </a:prstGeom>
          <a:solidFill>
            <a:srgbClr val="13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Phase 1: Pilot Deployment (Months 1–3)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Pilot launch in 5 Tier-2 &amp; Tier-3 Labour Cooperative Federations.</a:t>
            </a:r>
            <a:br/>
            <a:r>
              <a:t>• Onboard 2,500+ verified electricians, plumbers, and carpenters.</a:t>
            </a:r>
            <a:br/>
            <a:r>
              <a:t>• Fine-tune regional AI demand forecasting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154680"/>
            <a:ext cx="109728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Phase 2: Inter-Federation Roaming (Months 4–8)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Enable cooperative workers to accept bookings across adjacent federation zones.</a:t>
            </a:r>
            <a:br/>
            <a:r>
              <a:t>• Multilingual voice search interface in Hindi, Telugu, Tamil, Bengali, and Marathi.</a:t>
            </a:r>
            <a:br/>
            <a:r>
              <a:t>• Integrated emergency tool insurance micro-claims.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728655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663440"/>
            <a:ext cx="109728" cy="132588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79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Phase 3: National NCCT Integration (Months 9–12)</a:t>
            </a:r>
          </a:p>
          <a:p>
            <a:pPr>
              <a:defRPr sz="1250">
                <a:solidFill>
                  <a:srgbClr val="334155"/>
                </a:solidFill>
                <a:latin typeface="Arial"/>
              </a:defRPr>
            </a:pPr>
            <a:r>
              <a:t>• Direct integration with Ministry of Cooperation National Cooperative Database.</a:t>
            </a:r>
            <a:br/>
            <a:r>
              <a:t>• NCCT automated trade certification badges on worker profiles.</a:t>
            </a:r>
            <a:br/>
            <a:r>
              <a:t>• Open cooperative API for municipal and government facility maintenance contracts.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37A54"/>
                </a:solidFill>
                <a:latin typeface="Arial"/>
              </a:defRPr>
            </a:pPr>
            <a:r>
              <a:t>LIVE EVALUATOR TESTING &amp; DEMO PORTAL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Scan QR Code to Open Showcase Hub &amp; Download Working APKs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8404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owcase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01168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120640"/>
            <a:ext cx="347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7A54"/>
                </a:solidFill>
                <a:latin typeface="Arial"/>
              </a:defRPr>
            </a:pPr>
            <a:r>
              <a:t>Scan with Phone Camera to Open</a:t>
            </a:r>
            <a:br/>
            <a:r>
              <a:t>Showcase Hub: http://localhost:5174/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45920"/>
            <a:ext cx="66138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0F172A"/>
                </a:solidFill>
                <a:latin typeface="Arial"/>
              </a:defRPr>
            </a:pPr>
            <a:r>
              <a:t>Instant Testing Instructions for Judges</a:t>
            </a:r>
          </a:p>
          <a:p>
            <a:pPr>
              <a:defRPr sz="1350">
                <a:solidFill>
                  <a:srgbClr val="334155"/>
                </a:solidFill>
                <a:latin typeface="Arial"/>
              </a:defRPr>
            </a:pPr>
            <a:r>
              <a:t>1. Download Android APKs:</a:t>
            </a:r>
            <a:br/>
            <a:r>
              <a:t>   • SahaKarya Customer App: com.sahakarya.customer_app</a:t>
            </a:r>
            <a:br/>
            <a:r>
              <a:t>   • SahaKarya Partner App: com.sahakarya.worker_app</a:t>
            </a:r>
            <a:br/>
            <a:br/>
            <a:r>
              <a:t>2. Instant Demo Mode (Zero Setup Required):</a:t>
            </a:r>
            <a:br/>
            <a:r>
              <a:t>   • Tap '🚀 Explore in Demo Mode' on the Customer App</a:t>
            </a:r>
            <a:br/>
            <a:r>
              <a:t>   • Tap '⚡ Instant Demo Partner Mode' on the Worker App</a:t>
            </a:r>
            <a:br/>
            <a:br/>
            <a:r>
              <a:t>3. Interactive System Design Showcase Web App:</a:t>
            </a:r>
            <a:br/>
            <a:r>
              <a:t>   • Explore live multi-tier architecture &amp; simulated payloads</a:t>
            </a:r>
            <a:br/>
            <a:r>
              <a:t>   • Interactive 7-Day AI Demand Forecasting ML Simulator</a:t>
            </a:r>
            <a:br/>
            <a:br/>
            <a:r>
              <a:t>4. GitHub Source Code:</a:t>
            </a:r>
            <a:br/>
            <a:r>
              <a:t>   • https://github.com/Sahakaryaa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4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Empowering Indian Labour Cooperatives.</a:t>
            </a:r>
          </a:p>
          <a:p>
            <a:pPr>
              <a:spcAft>
                <a:spcPts val="3600"/>
              </a:spcAft>
              <a:defRPr sz="1900">
                <a:solidFill>
                  <a:srgbClr val="CBD5E1"/>
                </a:solidFill>
                <a:latin typeface="Arial"/>
              </a:defRPr>
            </a:pPr>
            <a:r>
              <a:t>SahaKarya replaces extractive commission algorithms with cooperative data dignity, guaranteed welfare security, and high-speed smart automation.</a:t>
            </a:r>
          </a:p>
          <a:p>
            <a:pPr>
              <a:spcAft>
                <a:spcPts val="800"/>
              </a:spcAft>
              <a:defRPr sz="2400" b="1">
                <a:solidFill>
                  <a:srgbClr val="F59E0B"/>
                </a:solidFill>
                <a:latin typeface="Arial"/>
              </a:defRPr>
            </a:pPr>
            <a:r>
              <a:t>Thank You! Questions &amp; Live Demonstration.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Smart India Hackathon 2026 • PS ID: SIH26089 • Ministry of Cooperation (NCCT)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