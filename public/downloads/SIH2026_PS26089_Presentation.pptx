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/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pPr>
              <a:defRPr b="1">
                <a:solidFill>
                  <a:srgbClr val="0D5238"/>
                </a:solidFill>
              </a:defRPr>
            </a:pPr>
            <a: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5238"/>
                </a:solidFill>
                <a:latin typeface="Arial"/>
              </a:defRPr>
            </a:pPr>
            <a:r>
              <a:t>Problem Statement ID: SIH26089</a:t>
            </a:r>
            <a:endParaRPr lang="en-US" dirty="0"/>
          </a:p>
          <a:p>
            <a:pPr>
              <a:spcAft>
                <a:spcPts val="400"/>
              </a:spcAft>
              <a:defRPr sz="1300" b="0">
                <a:solidFill>
                  <a:srgbClr val="0F172A"/>
                </a:solidFill>
                <a:latin typeface="Arial"/>
              </a:defRPr>
            </a:pPr>
            <a:r>
              <a:t>Problem Statement Title: Cooperative Gig Services Platform for Labour Federations</a:t>
            </a:r>
          </a:p>
          <a:p>
            <a:pPr>
              <a:spcAft>
                <a:spcPts val="400"/>
              </a:spcAft>
              <a:defRPr sz="1300" b="0">
                <a:solidFill>
                  <a:srgbClr val="0F172A"/>
                </a:solidFill>
                <a:latin typeface="Arial"/>
              </a:defRPr>
            </a:pPr>
            <a:r>
              <a:t>Theme: Smart Automation</a:t>
            </a:r>
          </a:p>
          <a:p>
            <a:pPr>
              <a:spcAft>
                <a:spcPts val="400"/>
              </a:spcAft>
              <a:defRPr sz="1300" b="0">
                <a:solidFill>
                  <a:srgbClr val="0F172A"/>
                </a:solidFill>
                <a:latin typeface="Arial"/>
              </a:defRPr>
            </a:pPr>
            <a:r>
              <a:t>PS Category: Software</a:t>
            </a:r>
          </a:p>
          <a:p>
            <a:pPr>
              <a:spcAft>
                <a:spcPts val="400"/>
              </a:spcAft>
              <a:defRPr sz="1300" b="0">
                <a:solidFill>
                  <a:srgbClr val="0F172A"/>
                </a:solidFill>
                <a:latin typeface="Arial"/>
              </a:defRPr>
            </a:pPr>
            <a:r>
              <a:t>Ministry / Organization: Ministry of Cooperation (NCCT)</a:t>
            </a:r>
          </a:p>
          <a:p>
            <a:pPr>
              <a:spcAft>
                <a:spcPts val="400"/>
              </a:spcAft>
              <a:defRPr sz="1300" b="1">
                <a:solidFill>
                  <a:srgbClr val="0D5238"/>
                </a:solidFill>
                <a:latin typeface="Arial"/>
              </a:defRPr>
            </a:pPr>
            <a:r>
              <a:t>Team Name: SahaKarya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Idea Title: SahaKarya (सहकार्य) — Non-Extractable Gig Marketplace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sz="2000" b="1">
                <a:solidFill>
                  <a:srgbClr val="0D5238"/>
                </a:solidFill>
              </a:defRPr>
            </a:pPr>
            <a:r>
              <a:t>IDEA TITLE: SahaKarya (सहकार्य) — Labour Cooperative Gig Platform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defRPr sz="1100" b="1"/>
            </a:pPr>
            <a:r>
              <a:t>SahaKarya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548640" y="1280160"/>
            <a:ext cx="347472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Rectangle 15363"/>
          <p:cNvSpPr/>
          <p:nvPr/>
        </p:nvSpPr>
        <p:spPr>
          <a:xfrm>
            <a:off x="548640" y="1280160"/>
            <a:ext cx="347472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731520" y="146304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97706"/>
                </a:solidFill>
                <a:latin typeface="Arial"/>
              </a:defRPr>
            </a:pPr>
            <a:r>
              <a:t>1. Core Problem Addressed</a:t>
            </a:r>
          </a:p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• 20–30% Extractive Commission:</a:t>
            </a:r>
            <a:br/>
            <a:r>
              <a:t>Private aggregators (Urban Company) extract heavy fees, eroding artisan earnings.</a:t>
            </a:r>
            <a:br/>
            <a:br/>
            <a:r>
              <a:t>• Invisible Labour Federations:</a:t>
            </a:r>
            <a:br/>
            <a:r>
              <a:t>Labour Cooperative Federations have millions of certified, skilled workers but lack a modern digital storefront.</a:t>
            </a:r>
            <a:br/>
            <a:br/>
            <a:r>
              <a:t>• Lack of Social Security:</a:t>
            </a:r>
            <a:br/>
            <a:r>
              <a:t>Zero collective health buffers, tool upgrade funds, or accident coverage for gig tradespeople.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4251960" y="1280160"/>
            <a:ext cx="347472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Rectangle 15366"/>
          <p:cNvSpPr/>
          <p:nvPr/>
        </p:nvSpPr>
        <p:spPr>
          <a:xfrm>
            <a:off x="4251960" y="1280160"/>
            <a:ext cx="3474720" cy="73152"/>
          </a:xfrm>
          <a:prstGeom prst="rect">
            <a:avLst/>
          </a:prstGeom>
          <a:solidFill>
            <a:srgbClr val="137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TextBox 15367"/>
          <p:cNvSpPr txBox="1"/>
          <p:nvPr/>
        </p:nvSpPr>
        <p:spPr>
          <a:xfrm>
            <a:off x="4434840" y="146304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37A54"/>
                </a:solidFill>
                <a:latin typeface="Arial"/>
              </a:defRPr>
            </a:pPr>
            <a:r>
              <a:t>2. Proposed 3-App Platform</a:t>
            </a:r>
          </a:p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• Customer App (Flutter):</a:t>
            </a:r>
            <a:br/>
            <a:r>
              <a:t>Transparent fixed tariffs, CartoDB live GPS tracking, in-trip chat, direct peer review.</a:t>
            </a:r>
            <a:br/>
            <a:br/>
            <a:r>
              <a:t>• Partner App (Flutter):</a:t>
            </a:r>
            <a:br/>
            <a:r>
              <a:t>Online/offline availability radar, 45s dispatch offer sheet, 95% instant payout, 5% welfare claims.</a:t>
            </a:r>
            <a:br/>
            <a:br/>
            <a:r>
              <a:t>• Federation Portal (React):</a:t>
            </a:r>
            <a:br/>
            <a:r>
              <a:t>Worker roster verification, live dispatch map, immutable welfare ledger, AI demand forecasts.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7955279" y="1280160"/>
            <a:ext cx="347472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Rectangle 15369"/>
          <p:cNvSpPr/>
          <p:nvPr/>
        </p:nvSpPr>
        <p:spPr>
          <a:xfrm>
            <a:off x="7955279" y="1280160"/>
            <a:ext cx="3474720" cy="73152"/>
          </a:xfrm>
          <a:prstGeom prst="rect">
            <a:avLst/>
          </a:prstGeom>
          <a:solidFill>
            <a:srgbClr val="0D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TextBox 15370"/>
          <p:cNvSpPr txBox="1"/>
          <p:nvPr/>
        </p:nvSpPr>
        <p:spPr>
          <a:xfrm>
            <a:off x="8138160" y="146304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D5238"/>
                </a:solidFill>
                <a:latin typeface="Arial"/>
              </a:defRPr>
            </a:pPr>
            <a:r>
              <a:t>3. Unique Value &amp; Novelty</a:t>
            </a:r>
          </a:p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• 5% Non-Extractable Welfare Fund:</a:t>
            </a:r>
            <a:br/>
            <a:r>
              <a:t>95% to worker, 5% locked for medical/tool safety net, 0% platform extraction.</a:t>
            </a:r>
            <a:br/>
            <a:br/>
            <a:r>
              <a:t>• Zero Supply-Side CAC:</a:t>
            </a:r>
            <a:br/>
            <a:r>
              <a:t>Federations onboard entire member rosters in bulk — pre-solving the supply cold start.</a:t>
            </a:r>
            <a:br/>
            <a:br/>
            <a:r>
              <a:t>• AI Demand Forecasting ML:</a:t>
            </a:r>
            <a:br/>
            <a:r>
              <a:t>7-day Gradient Boosting model (R²=0.958) anticipating regional festive surges.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D5238"/>
                </a:solidFill>
              </a:defRPr>
            </a:pPr>
            <a:r>
              <a:t>TECHNICAL APPROACH &amp; SYSTEM ARCHITECTURE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defRPr sz="1100" b="1"/>
            </a:pPr>
            <a:r>
              <a:t>SahaKarya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731520" y="146304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D5238"/>
                </a:solidFill>
                <a:latin typeface="Arial"/>
              </a:defRPr>
            </a:pPr>
            <a:r>
              <a:t>Multi-Tier Open-Source Tech Stack</a:t>
            </a:r>
          </a:p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• Mobile Edge (Flutter 3.x / Dart):</a:t>
            </a:r>
            <a:br/>
            <a:r>
              <a:t>   - Riverpod State Machine &amp; GoRouter declarative routing</a:t>
            </a:r>
            <a:br/>
            <a:r>
              <a:t>   - 100% Free CartoDB Voyager Raster Tiles on OpenStreetMap (Zero Google Maps API fees)</a:t>
            </a:r>
            <a:br/>
            <a:r>
              <a:t>   - Android Adaptive Icons &amp; Location Permission Explainer Sheets</a:t>
            </a:r>
            <a:br/>
            <a:br/>
            <a:r>
              <a:t>• Backend Engine (FastAPI / Python 3.11):</a:t>
            </a:r>
            <a:br/>
            <a:r>
              <a:t>   - High-throughput ASGI Server with Python-SocketIO duplex gateway</a:t>
            </a:r>
            <a:br/>
            <a:r>
              <a:t>   - Fair Match Algorithm (Distance decay + Rating + Skills)</a:t>
            </a:r>
            <a:br/>
            <a:r>
              <a:t>   - JWT Authentication with role-based access guards</a:t>
            </a:r>
            <a:br/>
            <a:br/>
            <a:r>
              <a:t>• Database &amp; Geospatial (MongoDB + Beanie ODM):</a:t>
            </a:r>
            <a:br/>
            <a:r>
              <a:t>   - Native MongoDB 2dsphere indexing (&lt;10ms geo proximity queries)</a:t>
            </a:r>
            <a:br/>
            <a:r>
              <a:t>   - ACID Transactional Welfare Audit Ledger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035040" y="1280160"/>
            <a:ext cx="53949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6217920" y="146304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97706"/>
                </a:solidFill>
                <a:latin typeface="Arial"/>
              </a:defRPr>
            </a:pPr>
            <a:r>
              <a:t>5-Stage Real-World Service Lifecycle</a:t>
            </a:r>
          </a:p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1. Service Booking Creation:</a:t>
            </a:r>
            <a:br/>
            <a:r>
              <a:t>Customer selects trade, time preference, and reviews transparent standard tariff.</a:t>
            </a:r>
            <a:br/>
            <a:br/>
            <a:r>
              <a:t>2. Fair Match &amp; Dispatch Acceptance:</a:t>
            </a:r>
            <a:br/>
            <a:r>
              <a:t>Closest available certified partner receives 45s offer sheet and accepts.</a:t>
            </a:r>
            <a:br/>
            <a:br/>
            <a:r>
              <a:t>3. Live Tracking &amp; Service Execution:</a:t>
            </a:r>
            <a:br/>
            <a:r>
              <a:t>Real-time GPS tracking with ETA. In-trip encrypted chat and calling.</a:t>
            </a:r>
            <a:br/>
            <a:br/>
            <a:r>
              <a:t>4. Job Completion &amp; Invoice Settlement:</a:t>
            </a:r>
            <a:br/>
            <a:r>
              <a:t>Worker marks work done. Customer pays bill. 95% credited to worker + 5% locked in welfare fund.</a:t>
            </a:r>
            <a:br/>
            <a:br/>
            <a:r>
              <a:t>5. Peer Rating &amp; Trade Evaluation:</a:t>
            </a:r>
            <a:br/>
            <a:r>
              <a:t>5★ review, praise tags ('Punctual', 'Skilled'), and optional partner tips.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D5238"/>
                </a:solidFill>
              </a:defRPr>
            </a:pPr>
            <a:r>
              <a:t>FEASIBILITY AND VIABILITY ANALYSIS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defRPr sz="1100" b="1"/>
            </a:pPr>
            <a:r>
              <a:t>SahaKarya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731520" y="146304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D5238"/>
                </a:solidFill>
                <a:latin typeface="Arial"/>
              </a:defRPr>
            </a:pPr>
            <a:r>
              <a:t>Operational &amp; Economic Feasibility</a:t>
            </a:r>
          </a:p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• Pre-Solved Supply Chain (Zero CAC):</a:t>
            </a:r>
            <a:br/>
            <a:r>
              <a:t>Labour Cooperative Federations provide thousands of vetted workers upon onboarding, bypassing high customer/worker acquisition costs.</a:t>
            </a:r>
            <a:br/>
            <a:br/>
            <a:r>
              <a:t>• Zero-Cost Open Source Infrastructure:</a:t>
            </a:r>
            <a:br/>
            <a:r>
              <a:t>OpenStreetMap raster tiles, FastAPI async engine, and local Scikit-Learn ML eliminate recurring proprietary API fees.</a:t>
            </a:r>
            <a:br/>
            <a:br/>
            <a:r>
              <a:t>• Physical Hardware Deployed &amp; Tested:</a:t>
            </a:r>
            <a:br/>
            <a:r>
              <a:t>Both Flutter packages tested and verified on physical Motorola Edge 50 Pro (Android 16 API 36) with 0 static analysis errors.</a:t>
            </a:r>
            <a:br/>
            <a:br/>
            <a:r>
              <a:t>• High-Accuracy Demand Model:</a:t>
            </a:r>
            <a:br/>
            <a:r>
              <a:t>GradientBoostingRegressor achieves R² = 0.958 (MAE 1.10 bookings/day) for optimal shift allocation.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035040" y="1280160"/>
            <a:ext cx="53949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6217920" y="146304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97706"/>
                </a:solidFill>
                <a:latin typeface="Arial"/>
              </a:defRPr>
            </a:pPr>
            <a:r>
              <a:t>Challenges &amp; Mitigation Strategies</a:t>
            </a:r>
          </a:p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• Challenge 1: Digital Literacy among Tradespeople</a:t>
            </a:r>
            <a:br/>
            <a:r>
              <a:t>  → Mitigation: Icon-driven multilingual UI, audio alerts for job offers, and one-tap demo modes.</a:t>
            </a:r>
            <a:br/>
            <a:br/>
            <a:r>
              <a:t>• Challenge 2: Customer Trust &amp; Verification</a:t>
            </a:r>
            <a:br/>
            <a:r>
              <a:t>  → Mitigation: Federation institutional certification badges, transparent fixed tariffs, and SOS emergency buttons.</a:t>
            </a:r>
            <a:br/>
            <a:br/>
            <a:r>
              <a:t>• Challenge 3: Smartphone Battery &amp; Data Privacy</a:t>
            </a:r>
            <a:br/>
            <a:r>
              <a:t>  → Mitigation: Strict zero-surveillance policy when offline; GPS streams only when worker toggles 'Online'.</a:t>
            </a:r>
            <a:br/>
            <a:br/>
            <a:r>
              <a:t>• Challenge 4: Peak Festive Demand Surges</a:t>
            </a:r>
            <a:br/>
            <a:r>
              <a:t>  → Mitigation: AI Demand Model mobilizes reserve federation workers ahead of Diwali/Holi without surge pricing.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D5238"/>
                </a:solidFill>
              </a:defRPr>
            </a:pPr>
            <a:r>
              <a:t>IMPACT, BENEFITS &amp; SOCIAL VALUE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defRPr sz="1100" b="1"/>
            </a:pPr>
            <a:r>
              <a:t>SahaKarya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48640" y="1280160"/>
            <a:ext cx="35661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548640" y="1280160"/>
            <a:ext cx="3566160" cy="73152"/>
          </a:xfrm>
          <a:prstGeom prst="rect">
            <a:avLst/>
          </a:prstGeom>
          <a:solidFill>
            <a:srgbClr val="137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731520" y="146304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37A54"/>
                </a:solidFill>
                <a:latin typeface="Arial"/>
              </a:defRPr>
            </a:pPr>
            <a:r>
              <a:t>1. Social Impact for Workers</a:t>
            </a:r>
          </a:p>
          <a:p>
            <a:pPr>
              <a:defRPr sz="1200">
                <a:solidFill>
                  <a:srgbClr val="334155"/>
                </a:solidFill>
                <a:latin typeface="Arial"/>
              </a:defRPr>
            </a:pPr>
            <a:r>
              <a:t>• Eliminates predatory 20–30% private platform cuts.</a:t>
            </a:r>
            <a:br/>
            <a:r>
              <a:t>• Fair, non-punitive algorithmic dispatch (zero shadow-banning or forced cancellations).</a:t>
            </a:r>
            <a:br/>
            <a:r>
              <a:t>• Institutional representation under Labour Cooperative Federation bylaws.</a:t>
            </a:r>
            <a:br/>
            <a:r>
              <a:t>• Restores human craftsmanship and career dignity.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51959" y="1280160"/>
            <a:ext cx="35661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ectangle 17414"/>
          <p:cNvSpPr/>
          <p:nvPr/>
        </p:nvSpPr>
        <p:spPr>
          <a:xfrm>
            <a:off x="4251959" y="1280160"/>
            <a:ext cx="356616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4434840" y="146304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D97706"/>
                </a:solidFill>
                <a:latin typeface="Arial"/>
              </a:defRPr>
            </a:pPr>
            <a:r>
              <a:t>2. Economic &amp; Welfare Security</a:t>
            </a:r>
          </a:p>
          <a:p>
            <a:pPr>
              <a:defRPr sz="1200">
                <a:solidFill>
                  <a:srgbClr val="334155"/>
                </a:solidFill>
                <a:latin typeface="Arial"/>
              </a:defRPr>
            </a:pPr>
            <a:r>
              <a:t>• 5% Non-Extractable Welfare Reserve provides direct medical assistance for on-the-job injuries.</a:t>
            </a:r>
            <a:br/>
            <a:r>
              <a:t>• Micro-grants for tool upgrades and electrical testing equipment.</a:t>
            </a:r>
            <a:br/>
            <a:r>
              <a:t>• Family emergency relief and accidental insurance buffers.</a:t>
            </a:r>
            <a:br/>
            <a:r>
              <a:t>• Transparent earnings settled instantly upon job completion.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7955279" y="1280160"/>
            <a:ext cx="35661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ectangle 17417"/>
          <p:cNvSpPr/>
          <p:nvPr/>
        </p:nvSpPr>
        <p:spPr>
          <a:xfrm>
            <a:off x="7955279" y="1280160"/>
            <a:ext cx="3566160" cy="73152"/>
          </a:xfrm>
          <a:prstGeom prst="rect">
            <a:avLst/>
          </a:prstGeom>
          <a:solidFill>
            <a:srgbClr val="0D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8138160" y="146304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D5238"/>
                </a:solidFill>
                <a:latin typeface="Arial"/>
              </a:defRPr>
            </a:pPr>
            <a:r>
              <a:t>3. Ministry &amp; Governance Value</a:t>
            </a:r>
          </a:p>
          <a:p>
            <a:pPr>
              <a:defRPr sz="1200">
                <a:solidFill>
                  <a:srgbClr val="334155"/>
                </a:solidFill>
                <a:latin typeface="Arial"/>
              </a:defRPr>
            </a:pPr>
            <a:r>
              <a:t>• Digital storefront empowering Labour Cooperative Federations across India.</a:t>
            </a:r>
            <a:br/>
            <a:r>
              <a:t>• Direct alignment with NCCT training and certification standards.</a:t>
            </a:r>
            <a:br/>
            <a:r>
              <a:t>• Immutable audit ledger for transparent cooperative welfare management.</a:t>
            </a:r>
            <a:br/>
            <a:r>
              <a:t>• AI smart automation eliminates price gouging for citizens.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D5238"/>
                </a:solidFill>
              </a:defRPr>
            </a:pPr>
            <a:r>
              <a:t>RESEARCH, REFERENCES &amp; VERIFICATION PORTAL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defRPr sz="1100" b="1"/>
            </a:pPr>
            <a:r>
              <a:t>SahaKarya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731520" y="146304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D5238"/>
                </a:solidFill>
                <a:latin typeface="Arial"/>
              </a:defRPr>
            </a:pPr>
            <a:r>
              <a:t>Research Foundation &amp; Cooperative Precedents</a:t>
            </a:r>
          </a:p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1. Up &amp; Go Cooperative Marketplace (NYC Case Study):</a:t>
            </a:r>
            <a:br/>
            <a:r>
              <a:t>   • Proven model: 5% platform fee retains 95% earnings with cooperative worker ownership.</a:t>
            </a:r>
            <a:br/>
            <a:br/>
            <a:r>
              <a:t>2. National Council for Cooperative Training (NCCT) Guidelines:</a:t>
            </a:r>
            <a:br/>
            <a:r>
              <a:t>   • Framework for institutional skill certification and digital cooperative governance.</a:t>
            </a:r>
            <a:br/>
            <a:br/>
            <a:r>
              <a:t>3. ILO &amp; Fairwork Gig Economy Principles:</a:t>
            </a:r>
            <a:br/>
            <a:r>
              <a:t>   • Compliance with Fair Pay, Fair Conditions, Fair Contracts, Fair Management, and Fair Representation.</a:t>
            </a:r>
            <a:br/>
            <a:br/>
            <a:r>
              <a:t>4. Geospatial Optimization Research:</a:t>
            </a:r>
            <a:br/>
            <a:r>
              <a:t>   • Sub-10ms spatial indexing utilizing MongoDB 2dsphere indexing and haversine decay algorithms.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035040" y="1280160"/>
            <a:ext cx="53949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6217920" y="146304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97706"/>
                </a:solidFill>
                <a:latin typeface="Arial"/>
              </a:defRPr>
            </a:pPr>
            <a:r>
              <a:t>Live Working Prototype &amp; Evaluator Portal</a:t>
            </a:r>
          </a:p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• Live Showcase &amp; Architecture Hub: http://localhost:5174/</a:t>
            </a:r>
            <a:br/>
            <a:r>
              <a:t>   - Interactive 7-Day AI Demand Model simulator</a:t>
            </a:r>
            <a:br/>
            <a:r>
              <a:t>   - Multi-tier system design visualizer with real payloads</a:t>
            </a:r>
            <a:br/>
            <a:br/>
            <a:r>
              <a:t>• Android Application Packages (APKs Ready):</a:t>
            </a:r>
            <a:br/>
            <a:r>
              <a:t>   - Customer App: com.sahakarya.customer_app</a:t>
            </a:r>
            <a:br/>
            <a:r>
              <a:t>   - Partner App: com.sahakarya.worker_app</a:t>
            </a:r>
            <a:br/>
            <a:r>
              <a:t>   - Instant Demo Mode enabled for one-tap jury testing</a:t>
            </a:r>
            <a:br/>
            <a:br/>
            <a:r>
              <a:t>• GitHub Repositories (Full Stack Source Code):</a:t>
            </a:r>
            <a:br/>
            <a:r>
              <a:t>   - https://github.com/Sahakaryaa/backend.git</a:t>
            </a:r>
            <a:br/>
            <a:r>
              <a:t>   - https://github.com/Sahakaryaa/customer-app.git</a:t>
            </a:r>
            <a:br/>
            <a:r>
              <a:t>   - https://github.com/Sahakaryaa/worker-app.git</a:t>
            </a:r>
            <a:br/>
            <a:r>
              <a:t>   - https://github.com/Sahakaryaa/admin-dashboard.git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